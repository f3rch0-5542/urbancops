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9" r:id="rId13"/>
    <p:sldId id="267" r:id="rId14"/>
    <p:sldId id="268" r:id="rId15"/>
  </p:sldIdLst>
  <p:sldSz cx="12192000" cy="6858000"/>
  <p:notesSz cx="6858000" cy="9144000"/>
  <p:embeddedFontLst>
    <p:embeddedFont>
      <p:font typeface="Century Schoolbook" panose="02040604050505020304" pitchFamily="18" charset="0"/>
      <p:regular r:id="rId17"/>
      <p:bold r:id="rId18"/>
      <p:italic r:id="rId19"/>
      <p:boldItalic r:id="rId20"/>
    </p:embeddedFont>
    <p:embeddedFont>
      <p:font typeface="Work Sans" pitchFamily="2" charset="0"/>
      <p:regular r:id="rId21"/>
      <p:bold r:id="rId22"/>
      <p:italic r:id="rId23"/>
      <p:boldItalic r:id="rId24"/>
    </p:embeddedFont>
    <p:embeddedFont>
      <p:font typeface="Work Sans Light" pitchFamily="2" charset="0"/>
      <p:regular r:id="rId25"/>
      <p:bold r:id="rId26"/>
      <p:italic r:id="rId27"/>
      <p:boldItalic r:id="rId28"/>
    </p:embeddedFont>
    <p:embeddedFont>
      <p:font typeface="Work Sans Medium" pitchFamily="2"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4" roundtripDataSignature="AMtx7mixt+p5mMu9VmhuVg2CbfbtDZkwj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21" Type="http://schemas.openxmlformats.org/officeDocument/2006/relationships/font" Target="fonts/font5.fntdata"/><Relationship Id="rId34"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font" Target="fonts/font16.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font" Target="fonts/font12.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font" Target="fonts/font1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font" Target="fonts/font14.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CO"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 name="Google Shape;99;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CO"/>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 name="Google Shape;10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9" name="Google Shape;11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6" name="Google Shape;12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3" name="Google Shape;133;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62679b608e_0_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9" name="Google Shape;139;g362679b608e_0_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 name="Google Shape;151;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2" name="Google Shape;152;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CO"/>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8" name="Google Shape;158;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a:extLst>
            <a:ext uri="{FF2B5EF4-FFF2-40B4-BE49-F238E27FC236}">
              <a16:creationId xmlns:a16="http://schemas.microsoft.com/office/drawing/2014/main" id="{E0ECFF98-8BC8-FF8D-9A61-ED6C3DF770A1}"/>
            </a:ext>
          </a:extLst>
        </p:cNvPr>
        <p:cNvGrpSpPr/>
        <p:nvPr/>
      </p:nvGrpSpPr>
      <p:grpSpPr>
        <a:xfrm>
          <a:off x="0" y="0"/>
          <a:ext cx="0" cy="0"/>
          <a:chOff x="0" y="0"/>
          <a:chExt cx="0" cy="0"/>
        </a:xfrm>
      </p:grpSpPr>
      <p:sp>
        <p:nvSpPr>
          <p:cNvPr id="163" name="Google Shape;163;p14:notes">
            <a:extLst>
              <a:ext uri="{FF2B5EF4-FFF2-40B4-BE49-F238E27FC236}">
                <a16:creationId xmlns:a16="http://schemas.microsoft.com/office/drawing/2014/main" id="{1DC70B9F-B7B6-9526-B40F-1EC452ED5AA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14:notes">
            <a:extLst>
              <a:ext uri="{FF2B5EF4-FFF2-40B4-BE49-F238E27FC236}">
                <a16:creationId xmlns:a16="http://schemas.microsoft.com/office/drawing/2014/main" id="{376CD4D9-1DBF-5BA2-40BF-E70F4694B8F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598028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0" name="Google Shape;170;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6" name="Google Shape;176;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Diapositiva de título">
  <p:cSld name="1_Diapositiva de título">
    <p:spTree>
      <p:nvGrpSpPr>
        <p:cNvPr id="1" name="Shape 15"/>
        <p:cNvGrpSpPr/>
        <p:nvPr/>
      </p:nvGrpSpPr>
      <p:grpSpPr>
        <a:xfrm>
          <a:off x="0" y="0"/>
          <a:ext cx="0" cy="0"/>
          <a:chOff x="0" y="0"/>
          <a:chExt cx="0" cy="0"/>
        </a:xfrm>
      </p:grpSpPr>
      <p:pic>
        <p:nvPicPr>
          <p:cNvPr id="16" name="Google Shape;16;p18" descr="Interfaz de usuario gráfica, Texto, Aplicación&#10;&#10;Descripción generada automáticamente"/>
          <p:cNvPicPr preferRelativeResize="0"/>
          <p:nvPr/>
        </p:nvPicPr>
        <p:blipFill rotWithShape="1">
          <a:blip r:embed="rId2">
            <a:alphaModFix/>
          </a:blip>
          <a:srcRect/>
          <a:stretch/>
        </p:blipFill>
        <p:spPr>
          <a:xfrm>
            <a:off x="0" y="0"/>
            <a:ext cx="12192000" cy="6858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iseño personalizado">
  <p:cSld name="Diseño personalizado">
    <p:bg>
      <p:bgPr>
        <a:blipFill>
          <a:blip r:embed="rId2">
            <a:alphaModFix/>
          </a:blip>
          <a:stretch>
            <a:fillRect/>
          </a:stretch>
        </a:blipFill>
        <a:effectLst/>
      </p:bgPr>
    </p:bg>
    <p:spTree>
      <p:nvGrpSpPr>
        <p:cNvPr id="1" name="Shape 17"/>
        <p:cNvGrpSpPr/>
        <p:nvPr/>
      </p:nvGrpSpPr>
      <p:grpSpPr>
        <a:xfrm>
          <a:off x="0" y="0"/>
          <a:ext cx="0" cy="0"/>
          <a:chOff x="0" y="0"/>
          <a:chExt cx="0" cy="0"/>
        </a:xfrm>
      </p:grpSpPr>
      <p:sp>
        <p:nvSpPr>
          <p:cNvPr id="18" name="Google Shape;18;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22"/>
        <p:cNvGrpSpPr/>
        <p:nvPr/>
      </p:nvGrpSpPr>
      <p:grpSpPr>
        <a:xfrm>
          <a:off x="0" y="0"/>
          <a:ext cx="0" cy="0"/>
          <a:chOff x="0" y="0"/>
          <a:chExt cx="0" cy="0"/>
        </a:xfrm>
      </p:grpSpPr>
      <p:sp>
        <p:nvSpPr>
          <p:cNvPr id="23" name="Google Shape;23;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26"/>
        <p:cNvGrpSpPr/>
        <p:nvPr/>
      </p:nvGrpSpPr>
      <p:grpSpPr>
        <a:xfrm>
          <a:off x="0" y="0"/>
          <a:ext cx="0" cy="0"/>
          <a:chOff x="0" y="0"/>
          <a:chExt cx="0" cy="0"/>
        </a:xfrm>
      </p:grpSpPr>
      <p:sp>
        <p:nvSpPr>
          <p:cNvPr id="27" name="Google Shape;27;p2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9" name="Google Shape;29;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32"/>
        <p:cNvGrpSpPr/>
        <p:nvPr/>
      </p:nvGrpSpPr>
      <p:grpSpPr>
        <a:xfrm>
          <a:off x="0" y="0"/>
          <a:ext cx="0" cy="0"/>
          <a:chOff x="0" y="0"/>
          <a:chExt cx="0" cy="0"/>
        </a:xfrm>
      </p:grpSpPr>
      <p:sp>
        <p:nvSpPr>
          <p:cNvPr id="33" name="Google Shape;33;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2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38"/>
        <p:cNvGrpSpPr/>
        <p:nvPr/>
      </p:nvGrpSpPr>
      <p:grpSpPr>
        <a:xfrm>
          <a:off x="0" y="0"/>
          <a:ext cx="0" cy="0"/>
          <a:chOff x="0" y="0"/>
          <a:chExt cx="0" cy="0"/>
        </a:xfrm>
      </p:grpSpPr>
      <p:sp>
        <p:nvSpPr>
          <p:cNvPr id="39" name="Google Shape;39;p2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23"/>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1" name="Google Shape;41;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44"/>
        <p:cNvGrpSpPr/>
        <p:nvPr/>
      </p:nvGrpSpPr>
      <p:grpSpPr>
        <a:xfrm>
          <a:off x="0" y="0"/>
          <a:ext cx="0" cy="0"/>
          <a:chOff x="0" y="0"/>
          <a:chExt cx="0" cy="0"/>
        </a:xfrm>
      </p:grpSpPr>
      <p:sp>
        <p:nvSpPr>
          <p:cNvPr id="45" name="Google Shape;45;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2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51"/>
        <p:cNvGrpSpPr/>
        <p:nvPr/>
      </p:nvGrpSpPr>
      <p:grpSpPr>
        <a:xfrm>
          <a:off x="0" y="0"/>
          <a:ext cx="0" cy="0"/>
          <a:chOff x="0" y="0"/>
          <a:chExt cx="0" cy="0"/>
        </a:xfrm>
      </p:grpSpPr>
      <p:sp>
        <p:nvSpPr>
          <p:cNvPr id="52" name="Google Shape;52;p25"/>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5"/>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4" name="Google Shape;54;p25"/>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25"/>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6" name="Google Shape;56;p25"/>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60"/>
        <p:cNvGrpSpPr/>
        <p:nvPr/>
      </p:nvGrpSpPr>
      <p:grpSpPr>
        <a:xfrm>
          <a:off x="0" y="0"/>
          <a:ext cx="0" cy="0"/>
          <a:chOff x="0" y="0"/>
          <a:chExt cx="0" cy="0"/>
        </a:xfrm>
      </p:grpSpPr>
      <p:sp>
        <p:nvSpPr>
          <p:cNvPr id="61" name="Google Shape;61;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65"/>
        <p:cNvGrpSpPr/>
        <p:nvPr/>
      </p:nvGrpSpPr>
      <p:grpSpPr>
        <a:xfrm>
          <a:off x="0" y="0"/>
          <a:ext cx="0" cy="0"/>
          <a:chOff x="0" y="0"/>
          <a:chExt cx="0" cy="0"/>
        </a:xfrm>
      </p:grpSpPr>
      <p:sp>
        <p:nvSpPr>
          <p:cNvPr id="66" name="Google Shape;66;p2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7"/>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27"/>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72"/>
        <p:cNvGrpSpPr/>
        <p:nvPr/>
      </p:nvGrpSpPr>
      <p:grpSpPr>
        <a:xfrm>
          <a:off x="0" y="0"/>
          <a:ext cx="0" cy="0"/>
          <a:chOff x="0" y="0"/>
          <a:chExt cx="0" cy="0"/>
        </a:xfrm>
      </p:grpSpPr>
      <p:sp>
        <p:nvSpPr>
          <p:cNvPr id="73" name="Google Shape;73;p2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8"/>
          <p:cNvSpPr>
            <a:spLocks noGrp="1"/>
          </p:cNvSpPr>
          <p:nvPr>
            <p:ph type="pic" idx="2"/>
          </p:nvPr>
        </p:nvSpPr>
        <p:spPr>
          <a:xfrm>
            <a:off x="5183188" y="987425"/>
            <a:ext cx="6172200" cy="4873625"/>
          </a:xfrm>
          <a:prstGeom prst="rect">
            <a:avLst/>
          </a:prstGeom>
          <a:noFill/>
          <a:ln>
            <a:noFill/>
          </a:ln>
        </p:spPr>
      </p:sp>
      <p:sp>
        <p:nvSpPr>
          <p:cNvPr id="75" name="Google Shape;75;p28"/>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6" name="Google Shape;76;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9"/>
        <p:cNvGrpSpPr/>
        <p:nvPr/>
      </p:nvGrpSpPr>
      <p:grpSpPr>
        <a:xfrm>
          <a:off x="0" y="0"/>
          <a:ext cx="0" cy="0"/>
          <a:chOff x="0" y="0"/>
          <a:chExt cx="0" cy="0"/>
        </a:xfrm>
      </p:grpSpPr>
      <p:sp>
        <p:nvSpPr>
          <p:cNvPr id="80" name="Google Shape;80;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9"/>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_Encabezado de sección">
  <p:cSld name="1_Encabezado de sección">
    <p:spTree>
      <p:nvGrpSpPr>
        <p:cNvPr id="1" name="Shape 85"/>
        <p:cNvGrpSpPr/>
        <p:nvPr/>
      </p:nvGrpSpPr>
      <p:grpSpPr>
        <a:xfrm>
          <a:off x="0" y="0"/>
          <a:ext cx="0" cy="0"/>
          <a:chOff x="0" y="0"/>
          <a:chExt cx="0" cy="0"/>
        </a:xfrm>
      </p:grpSpPr>
      <p:pic>
        <p:nvPicPr>
          <p:cNvPr id="86" name="Google Shape;86;p30"/>
          <p:cNvPicPr preferRelativeResize="0"/>
          <p:nvPr/>
        </p:nvPicPr>
        <p:blipFill rotWithShape="1">
          <a:blip r:embed="rId2">
            <a:alphaModFix/>
          </a:blip>
          <a:srcRect/>
          <a:stretch/>
        </p:blipFill>
        <p:spPr>
          <a:xfrm>
            <a:off x="11027833" y="317431"/>
            <a:ext cx="811391" cy="790587"/>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87"/>
        <p:cNvGrpSpPr/>
        <p:nvPr/>
      </p:nvGrpSpPr>
      <p:grpSpPr>
        <a:xfrm>
          <a:off x="0" y="0"/>
          <a:ext cx="0" cy="0"/>
          <a:chOff x="0" y="0"/>
          <a:chExt cx="0" cy="0"/>
        </a:xfrm>
      </p:grpSpPr>
      <p:sp>
        <p:nvSpPr>
          <p:cNvPr id="88" name="Google Shape;88;p31"/>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31"/>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0" name="Google Shape;90;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2_Encabezado de sección">
  <p:cSld name="2_Encabezado de sección">
    <p:spTree>
      <p:nvGrpSpPr>
        <p:cNvPr id="1" name="Shape 93"/>
        <p:cNvGrpSpPr/>
        <p:nvPr/>
      </p:nvGrpSpPr>
      <p:grpSpPr>
        <a:xfrm>
          <a:off x="0" y="0"/>
          <a:ext cx="0" cy="0"/>
          <a:chOff x="0" y="0"/>
          <a:chExt cx="0" cy="0"/>
        </a:xfrm>
      </p:grpSpPr>
      <p:pic>
        <p:nvPicPr>
          <p:cNvPr id="94" name="Google Shape;94;p32" descr="Patrón de fondo&#10;&#10;Descripción generada automáticamente"/>
          <p:cNvPicPr preferRelativeResize="0"/>
          <p:nvPr/>
        </p:nvPicPr>
        <p:blipFill rotWithShape="1">
          <a:blip r:embed="rId2">
            <a:alphaModFix/>
          </a:blip>
          <a:srcRect/>
          <a:stretch/>
        </p:blipFill>
        <p:spPr>
          <a:xfrm>
            <a:off x="0" y="0"/>
            <a:ext cx="12192000" cy="6858000"/>
          </a:xfrm>
          <a:prstGeom prst="rect">
            <a:avLst/>
          </a:prstGeom>
          <a:noFill/>
          <a:ln>
            <a:noFill/>
          </a:ln>
        </p:spPr>
      </p:pic>
      <p:pic>
        <p:nvPicPr>
          <p:cNvPr id="95" name="Google Shape;95;p32"/>
          <p:cNvPicPr preferRelativeResize="0"/>
          <p:nvPr/>
        </p:nvPicPr>
        <p:blipFill rotWithShape="1">
          <a:blip r:embed="rId3">
            <a:alphaModFix/>
          </a:blip>
          <a:srcRect/>
          <a:stretch/>
        </p:blipFill>
        <p:spPr>
          <a:xfrm>
            <a:off x="11054859" y="303050"/>
            <a:ext cx="855785" cy="833982"/>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
          <p:cNvSpPr txBox="1"/>
          <p:nvPr/>
        </p:nvSpPr>
        <p:spPr>
          <a:xfrm>
            <a:off x="995422" y="2551837"/>
            <a:ext cx="8020800" cy="2586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5400"/>
              <a:buFont typeface="Arial"/>
              <a:buNone/>
            </a:pPr>
            <a:r>
              <a:rPr lang="es-CO" sz="5400" b="1" i="0" u="none" strike="noStrike" cap="none">
                <a:solidFill>
                  <a:srgbClr val="404040"/>
                </a:solidFill>
                <a:latin typeface="Work Sans"/>
                <a:ea typeface="Work Sans"/>
                <a:cs typeface="Work Sans"/>
                <a:sym typeface="Work Sans"/>
              </a:rPr>
              <a:t>Sistema de diseño y atención para urbanc</a:t>
            </a:r>
            <a:r>
              <a:rPr lang="es-CO" sz="5400" b="1">
                <a:solidFill>
                  <a:srgbClr val="404040"/>
                </a:solidFill>
                <a:latin typeface="Work Sans"/>
                <a:ea typeface="Work Sans"/>
                <a:cs typeface="Work Sans"/>
                <a:sym typeface="Work Sans"/>
              </a:rPr>
              <a:t>ops</a:t>
            </a:r>
            <a:endParaRPr sz="5400" b="1" i="0" u="none" strike="noStrike" cap="none">
              <a:solidFill>
                <a:srgbClr val="3F3F3F"/>
              </a:solidFill>
              <a:latin typeface="Work Sans"/>
              <a:ea typeface="Work Sans"/>
              <a:cs typeface="Work Sans"/>
              <a:sym typeface="Work Sans"/>
            </a:endParaRPr>
          </a:p>
        </p:txBody>
      </p:sp>
      <p:sp>
        <p:nvSpPr>
          <p:cNvPr id="102" name="Google Shape;102;p1"/>
          <p:cNvSpPr txBox="1"/>
          <p:nvPr/>
        </p:nvSpPr>
        <p:spPr>
          <a:xfrm>
            <a:off x="6859225" y="3970725"/>
            <a:ext cx="4554300" cy="154440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800"/>
              </a:spcBef>
              <a:spcAft>
                <a:spcPts val="0"/>
              </a:spcAft>
              <a:buClr>
                <a:srgbClr val="000000"/>
              </a:buClr>
              <a:buSzPts val="2100"/>
              <a:buFont typeface="Arial"/>
              <a:buNone/>
            </a:pPr>
            <a:r>
              <a:rPr lang="es-CO" sz="2100" b="0" i="0" u="none" strike="noStrike" cap="none">
                <a:solidFill>
                  <a:schemeClr val="dk1"/>
                </a:solidFill>
                <a:latin typeface="Work Sans Medium"/>
                <a:ea typeface="Work Sans Medium"/>
                <a:cs typeface="Work Sans Medium"/>
                <a:sym typeface="Work Sans Medium"/>
              </a:rPr>
              <a:t>John Fernando Yara Tique.</a:t>
            </a:r>
            <a:endParaRPr sz="2100" b="0" i="0" u="none" strike="noStrike" cap="none">
              <a:solidFill>
                <a:schemeClr val="dk1"/>
              </a:solidFill>
              <a:latin typeface="Work Sans Medium"/>
              <a:ea typeface="Work Sans Medium"/>
              <a:cs typeface="Work Sans Medium"/>
              <a:sym typeface="Work Sans Medium"/>
            </a:endParaRPr>
          </a:p>
          <a:p>
            <a:pPr marL="0" marR="0" lvl="0" indent="0" algn="l" rtl="0">
              <a:lnSpc>
                <a:spcPct val="150000"/>
              </a:lnSpc>
              <a:spcBef>
                <a:spcPts val="800"/>
              </a:spcBef>
              <a:spcAft>
                <a:spcPts val="0"/>
              </a:spcAft>
              <a:buClr>
                <a:srgbClr val="000000"/>
              </a:buClr>
              <a:buSzPts val="2100"/>
              <a:buFont typeface="Arial"/>
              <a:buNone/>
            </a:pPr>
            <a:r>
              <a:rPr lang="es-CO" sz="2100" b="0" i="0" u="none" strike="noStrike" cap="none">
                <a:solidFill>
                  <a:schemeClr val="dk1"/>
                </a:solidFill>
                <a:latin typeface="Work Sans Medium"/>
                <a:ea typeface="Work Sans Medium"/>
                <a:cs typeface="Work Sans Medium"/>
                <a:sym typeface="Work Sans Medium"/>
              </a:rPr>
              <a:t>Omar Niño</a:t>
            </a:r>
            <a:endParaRPr sz="2100" b="0" i="0" u="none" strike="noStrike" cap="none">
              <a:solidFill>
                <a:schemeClr val="dk1"/>
              </a:solidFill>
              <a:latin typeface="Work Sans Medium"/>
              <a:ea typeface="Work Sans Medium"/>
              <a:cs typeface="Work Sans Medium"/>
              <a:sym typeface="Work Sans Medium"/>
            </a:endParaRPr>
          </a:p>
          <a:p>
            <a:pPr marL="0" marR="0" lvl="0" indent="0" algn="l" rtl="0">
              <a:lnSpc>
                <a:spcPct val="100000"/>
              </a:lnSpc>
              <a:spcBef>
                <a:spcPts val="80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4"/>
          <p:cNvSpPr txBox="1"/>
          <p:nvPr/>
        </p:nvSpPr>
        <p:spPr>
          <a:xfrm>
            <a:off x="816225" y="2644575"/>
            <a:ext cx="7167300" cy="2940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500"/>
              <a:buFont typeface="Arial"/>
              <a:buNone/>
            </a:pPr>
            <a:r>
              <a:rPr lang="es-CO" sz="3700"/>
              <a:t>Desarrollar un sistema de información que permita la personalización, PQRS y eficiencia de pedidos de gorras urbancops</a:t>
            </a:r>
            <a:endParaRPr sz="3700" b="0" i="0" u="none" strike="noStrike" cap="none">
              <a:solidFill>
                <a:schemeClr val="dk1"/>
              </a:solidFill>
              <a:latin typeface="Work Sans Light"/>
              <a:ea typeface="Work Sans Light"/>
              <a:cs typeface="Work Sans Light"/>
              <a:sym typeface="Work Sans Light"/>
            </a:endParaRPr>
          </a:p>
        </p:txBody>
      </p:sp>
      <p:sp>
        <p:nvSpPr>
          <p:cNvPr id="108" name="Google Shape;108;p4"/>
          <p:cNvSpPr txBox="1"/>
          <p:nvPr/>
        </p:nvSpPr>
        <p:spPr>
          <a:xfrm>
            <a:off x="283029" y="120196"/>
            <a:ext cx="10515600" cy="1325563"/>
          </a:xfrm>
          <a:prstGeom prst="rect">
            <a:avLst/>
          </a:prstGeom>
          <a:noFill/>
          <a:ln>
            <a:noFill/>
          </a:ln>
        </p:spPr>
        <p:txBody>
          <a:bodyPr spcFirstLastPara="1" wrap="square" lIns="91425" tIns="45700" rIns="91425" bIns="45700" anchor="ctr" anchorCtr="0">
            <a:normAutofit fontScale="82500" lnSpcReduction="20000"/>
          </a:bodyPr>
          <a:lstStyle/>
          <a:p>
            <a:pPr marL="0" marR="0" lvl="0" indent="0" algn="l" rtl="0">
              <a:lnSpc>
                <a:spcPct val="90000"/>
              </a:lnSpc>
              <a:spcBef>
                <a:spcPts val="0"/>
              </a:spcBef>
              <a:spcAft>
                <a:spcPts val="0"/>
              </a:spcAft>
              <a:buClr>
                <a:schemeClr val="dk1"/>
              </a:buClr>
              <a:buSzPct val="100000"/>
              <a:buFont typeface="Calibri"/>
              <a:buNone/>
            </a:pPr>
            <a:br>
              <a:rPr lang="es-CO" sz="4400" b="0" i="0" u="none" strike="noStrike" cap="none">
                <a:solidFill>
                  <a:schemeClr val="dk1"/>
                </a:solidFill>
                <a:latin typeface="Calibri"/>
                <a:ea typeface="Calibri"/>
                <a:cs typeface="Calibri"/>
                <a:sym typeface="Calibri"/>
              </a:rPr>
            </a:br>
            <a:r>
              <a:rPr lang="es-CO" sz="4800" b="1" i="0" u="none" strike="noStrike" cap="none">
                <a:solidFill>
                  <a:schemeClr val="lt1"/>
                </a:solidFill>
                <a:latin typeface="Work Sans Medium"/>
                <a:ea typeface="Work Sans Medium"/>
                <a:cs typeface="Work Sans Medium"/>
                <a:sym typeface="Work Sans Medium"/>
              </a:rPr>
              <a:t>OBJETIVO GENERAL.</a:t>
            </a:r>
            <a:br>
              <a:rPr lang="es-CO" sz="9600" b="0" i="0" u="none" strike="noStrike" cap="none">
                <a:solidFill>
                  <a:schemeClr val="dk1"/>
                </a:solidFill>
                <a:latin typeface="Work Sans Light"/>
                <a:ea typeface="Work Sans Light"/>
                <a:cs typeface="Work Sans Light"/>
                <a:sym typeface="Work Sans Light"/>
              </a:rPr>
            </a:br>
            <a:endParaRPr sz="4400" b="0" i="0" u="none" strike="noStrike" cap="none">
              <a:solidFill>
                <a:schemeClr val="dk1"/>
              </a:solidFill>
              <a:latin typeface="Calibri"/>
              <a:ea typeface="Calibri"/>
              <a:cs typeface="Calibri"/>
              <a:sym typeface="Calibri"/>
            </a:endParaRPr>
          </a:p>
        </p:txBody>
      </p:sp>
      <p:pic>
        <p:nvPicPr>
          <p:cNvPr id="109" name="Google Shape;109;p4" descr="Imágenes de Implementacion Sistema - Descarga gratuita en ..."/>
          <p:cNvPicPr preferRelativeResize="0"/>
          <p:nvPr/>
        </p:nvPicPr>
        <p:blipFill rotWithShape="1">
          <a:blip r:embed="rId3">
            <a:alphaModFix/>
          </a:blip>
          <a:srcRect/>
          <a:stretch/>
        </p:blipFill>
        <p:spPr>
          <a:xfrm>
            <a:off x="8411785" y="2845348"/>
            <a:ext cx="3852473" cy="224299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2800"/>
              <a:buFont typeface="Calibri"/>
              <a:buNone/>
            </a:pPr>
            <a:br>
              <a:rPr lang="es-CO" sz="3900">
                <a:solidFill>
                  <a:schemeClr val="lt1"/>
                </a:solidFill>
              </a:rPr>
            </a:br>
            <a:r>
              <a:rPr lang="es-CO" sz="3900" b="1">
                <a:solidFill>
                  <a:schemeClr val="lt1"/>
                </a:solidFill>
              </a:rPr>
              <a:t>OBJETIVOS ESPECÍFICOS.</a:t>
            </a:r>
            <a:br>
              <a:rPr lang="es-CO" sz="3900">
                <a:solidFill>
                  <a:schemeClr val="lt1"/>
                </a:solidFill>
              </a:rPr>
            </a:br>
            <a:endParaRPr sz="3900">
              <a:solidFill>
                <a:schemeClr val="lt1"/>
              </a:solidFill>
            </a:endParaRPr>
          </a:p>
        </p:txBody>
      </p:sp>
      <p:sp>
        <p:nvSpPr>
          <p:cNvPr id="115" name="Google Shape;115;p5"/>
          <p:cNvSpPr txBox="1"/>
          <p:nvPr/>
        </p:nvSpPr>
        <p:spPr>
          <a:xfrm>
            <a:off x="838200" y="1881200"/>
            <a:ext cx="6095100" cy="4885500"/>
          </a:xfrm>
          <a:prstGeom prst="rect">
            <a:avLst/>
          </a:prstGeom>
          <a:noFill/>
          <a:ln>
            <a:noFill/>
          </a:ln>
        </p:spPr>
        <p:txBody>
          <a:bodyPr spcFirstLastPara="1" wrap="square" lIns="91425" tIns="45700" rIns="91425" bIns="45700" anchor="t" anchorCtr="0">
            <a:noAutofit/>
          </a:bodyPr>
          <a:lstStyle/>
          <a:p>
            <a:pPr marL="0" lvl="0" indent="0" algn="l" rtl="0">
              <a:lnSpc>
                <a:spcPct val="70000"/>
              </a:lnSpc>
              <a:spcBef>
                <a:spcPts val="600"/>
              </a:spcBef>
              <a:spcAft>
                <a:spcPts val="0"/>
              </a:spcAft>
              <a:buClr>
                <a:schemeClr val="dk1"/>
              </a:buClr>
              <a:buSzPts val="935"/>
              <a:buFont typeface="Arial"/>
              <a:buNone/>
            </a:pPr>
            <a:r>
              <a:rPr lang="es-CO" sz="2300">
                <a:solidFill>
                  <a:schemeClr val="dk1"/>
                </a:solidFill>
              </a:rPr>
              <a:t>facilitar el proceso de compra a través de un carrito </a:t>
            </a:r>
            <a:endParaRPr sz="2300">
              <a:solidFill>
                <a:schemeClr val="dk1"/>
              </a:solidFill>
            </a:endParaRPr>
          </a:p>
          <a:p>
            <a:pPr marL="0" lvl="0" indent="0" algn="l" rtl="0">
              <a:lnSpc>
                <a:spcPct val="70000"/>
              </a:lnSpc>
              <a:spcBef>
                <a:spcPts val="600"/>
              </a:spcBef>
              <a:spcAft>
                <a:spcPts val="0"/>
              </a:spcAft>
              <a:buClr>
                <a:schemeClr val="dk1"/>
              </a:buClr>
              <a:buSzPts val="935"/>
              <a:buFont typeface="Arial"/>
              <a:buNone/>
            </a:pPr>
            <a:endParaRPr sz="2300">
              <a:solidFill>
                <a:schemeClr val="dk1"/>
              </a:solidFill>
            </a:endParaRPr>
          </a:p>
          <a:p>
            <a:pPr marL="0" lvl="0" indent="0" algn="l" rtl="0">
              <a:lnSpc>
                <a:spcPct val="70000"/>
              </a:lnSpc>
              <a:spcBef>
                <a:spcPts val="600"/>
              </a:spcBef>
              <a:spcAft>
                <a:spcPts val="0"/>
              </a:spcAft>
              <a:buClr>
                <a:schemeClr val="dk1"/>
              </a:buClr>
              <a:buSzPts val="935"/>
              <a:buFont typeface="Arial"/>
              <a:buNone/>
            </a:pPr>
            <a:endParaRPr sz="2300">
              <a:solidFill>
                <a:schemeClr val="dk1"/>
              </a:solidFill>
            </a:endParaRPr>
          </a:p>
          <a:p>
            <a:pPr marL="0" lvl="0" indent="0" algn="l" rtl="0">
              <a:lnSpc>
                <a:spcPct val="70000"/>
              </a:lnSpc>
              <a:spcBef>
                <a:spcPts val="600"/>
              </a:spcBef>
              <a:spcAft>
                <a:spcPts val="0"/>
              </a:spcAft>
              <a:buClr>
                <a:schemeClr val="dk1"/>
              </a:buClr>
              <a:buSzPts val="935"/>
              <a:buFont typeface="Arial"/>
              <a:buNone/>
            </a:pPr>
            <a:r>
              <a:rPr lang="es-CO" sz="2300">
                <a:solidFill>
                  <a:schemeClr val="dk1"/>
                </a:solidFill>
              </a:rPr>
              <a:t>Gestionar el registro, edición y eliminación de usuarios</a:t>
            </a:r>
            <a:endParaRPr sz="2300">
              <a:solidFill>
                <a:schemeClr val="dk1"/>
              </a:solidFill>
            </a:endParaRPr>
          </a:p>
          <a:p>
            <a:pPr marL="0" lvl="0" indent="0" algn="l" rtl="0">
              <a:lnSpc>
                <a:spcPct val="70000"/>
              </a:lnSpc>
              <a:spcBef>
                <a:spcPts val="600"/>
              </a:spcBef>
              <a:spcAft>
                <a:spcPts val="0"/>
              </a:spcAft>
              <a:buClr>
                <a:schemeClr val="dk1"/>
              </a:buClr>
              <a:buSzPts val="935"/>
              <a:buFont typeface="Arial"/>
              <a:buNone/>
            </a:pPr>
            <a:endParaRPr sz="2300">
              <a:solidFill>
                <a:schemeClr val="dk1"/>
              </a:solidFill>
            </a:endParaRPr>
          </a:p>
          <a:p>
            <a:pPr marL="0" lvl="0" indent="0" algn="l" rtl="0">
              <a:lnSpc>
                <a:spcPct val="70000"/>
              </a:lnSpc>
              <a:spcBef>
                <a:spcPts val="600"/>
              </a:spcBef>
              <a:spcAft>
                <a:spcPts val="0"/>
              </a:spcAft>
              <a:buClr>
                <a:schemeClr val="dk1"/>
              </a:buClr>
              <a:buSzPts val="935"/>
              <a:buFont typeface="Arial"/>
              <a:buNone/>
            </a:pPr>
            <a:r>
              <a:rPr lang="es-CO" sz="2300">
                <a:solidFill>
                  <a:schemeClr val="dk1"/>
                </a:solidFill>
              </a:rPr>
              <a:t>administrar las  PQRS para mejorar el servicio del usuario</a:t>
            </a:r>
            <a:endParaRPr sz="2300">
              <a:solidFill>
                <a:schemeClr val="dk1"/>
              </a:solidFill>
            </a:endParaRPr>
          </a:p>
          <a:p>
            <a:pPr marL="0" lvl="0" indent="0" algn="l" rtl="0">
              <a:lnSpc>
                <a:spcPct val="70000"/>
              </a:lnSpc>
              <a:spcBef>
                <a:spcPts val="600"/>
              </a:spcBef>
              <a:spcAft>
                <a:spcPts val="0"/>
              </a:spcAft>
              <a:buClr>
                <a:schemeClr val="dk1"/>
              </a:buClr>
              <a:buSzPts val="935"/>
              <a:buFont typeface="Arial"/>
              <a:buNone/>
            </a:pPr>
            <a:endParaRPr sz="2300">
              <a:solidFill>
                <a:schemeClr val="dk1"/>
              </a:solidFill>
            </a:endParaRPr>
          </a:p>
          <a:p>
            <a:pPr marL="0" lvl="0" indent="0" algn="l" rtl="0">
              <a:lnSpc>
                <a:spcPct val="70000"/>
              </a:lnSpc>
              <a:spcBef>
                <a:spcPts val="600"/>
              </a:spcBef>
              <a:spcAft>
                <a:spcPts val="0"/>
              </a:spcAft>
              <a:buClr>
                <a:schemeClr val="dk1"/>
              </a:buClr>
              <a:buSzPts val="935"/>
              <a:buFont typeface="Arial"/>
              <a:buNone/>
            </a:pPr>
            <a:endParaRPr sz="2300">
              <a:solidFill>
                <a:schemeClr val="dk1"/>
              </a:solidFill>
            </a:endParaRPr>
          </a:p>
          <a:p>
            <a:pPr marL="0" lvl="0" indent="0" algn="l" rtl="0">
              <a:lnSpc>
                <a:spcPct val="70000"/>
              </a:lnSpc>
              <a:spcBef>
                <a:spcPts val="600"/>
              </a:spcBef>
              <a:spcAft>
                <a:spcPts val="0"/>
              </a:spcAft>
              <a:buClr>
                <a:schemeClr val="dk1"/>
              </a:buClr>
              <a:buSzPts val="935"/>
              <a:buFont typeface="Arial"/>
              <a:buNone/>
            </a:pPr>
            <a:endParaRPr sz="2300">
              <a:solidFill>
                <a:schemeClr val="dk1"/>
              </a:solidFill>
            </a:endParaRPr>
          </a:p>
          <a:p>
            <a:pPr marL="0" lvl="0" indent="0" algn="l" rtl="0">
              <a:lnSpc>
                <a:spcPct val="70000"/>
              </a:lnSpc>
              <a:spcBef>
                <a:spcPts val="600"/>
              </a:spcBef>
              <a:spcAft>
                <a:spcPts val="0"/>
              </a:spcAft>
              <a:buClr>
                <a:schemeClr val="dk1"/>
              </a:buClr>
              <a:buSzPts val="935"/>
              <a:buFont typeface="Arial"/>
              <a:buNone/>
            </a:pPr>
            <a:r>
              <a:rPr lang="es-CO" sz="2300">
                <a:solidFill>
                  <a:schemeClr val="dk1"/>
                </a:solidFill>
              </a:rPr>
              <a:t>gestionar el proceso de  personalización de pedidos</a:t>
            </a:r>
            <a:endParaRPr sz="2300">
              <a:solidFill>
                <a:schemeClr val="dk1"/>
              </a:solidFill>
            </a:endParaRPr>
          </a:p>
          <a:p>
            <a:pPr marL="0" marR="0" lvl="0" indent="0" algn="l" rtl="0">
              <a:lnSpc>
                <a:spcPct val="70000"/>
              </a:lnSpc>
              <a:spcBef>
                <a:spcPts val="600"/>
              </a:spcBef>
              <a:spcAft>
                <a:spcPts val="600"/>
              </a:spcAft>
              <a:buNone/>
            </a:pPr>
            <a:endParaRPr sz="2300">
              <a:solidFill>
                <a:schemeClr val="dk1"/>
              </a:solidFill>
            </a:endParaRPr>
          </a:p>
        </p:txBody>
      </p:sp>
      <p:pic>
        <p:nvPicPr>
          <p:cNvPr id="116" name="Google Shape;116;p5" descr="SMART GOALS: OBJETIVOS ESPECÍFICOS E INTELIGENTES"/>
          <p:cNvPicPr preferRelativeResize="0"/>
          <p:nvPr/>
        </p:nvPicPr>
        <p:blipFill rotWithShape="1">
          <a:blip r:embed="rId3">
            <a:alphaModFix/>
          </a:blip>
          <a:srcRect r="12796" b="1"/>
          <a:stretch/>
        </p:blipFill>
        <p:spPr>
          <a:xfrm>
            <a:off x="7082000" y="2067163"/>
            <a:ext cx="4634275" cy="3980600"/>
          </a:xfrm>
          <a:prstGeom prst="rect">
            <a:avLst/>
          </a:prstGeom>
          <a:solidFill>
            <a:srgbClr val="FFFFFF"/>
          </a:solid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pic>
        <p:nvPicPr>
          <p:cNvPr id="121" name="Google Shape;121;p2" descr="Hombre de negocios con el concepto de problema Reflexión de signo de  interrogación | Vector Premium"/>
          <p:cNvPicPr preferRelativeResize="0"/>
          <p:nvPr/>
        </p:nvPicPr>
        <p:blipFill rotWithShape="1">
          <a:blip r:embed="rId3">
            <a:alphaModFix/>
          </a:blip>
          <a:srcRect l="26974" r="25000" b="-344"/>
          <a:stretch/>
        </p:blipFill>
        <p:spPr>
          <a:xfrm>
            <a:off x="10072778" y="2431212"/>
            <a:ext cx="2112096" cy="4411665"/>
          </a:xfrm>
          <a:prstGeom prst="rect">
            <a:avLst/>
          </a:prstGeom>
          <a:noFill/>
          <a:ln>
            <a:noFill/>
          </a:ln>
        </p:spPr>
      </p:pic>
      <p:sp>
        <p:nvSpPr>
          <p:cNvPr id="122" name="Google Shape;122;p2"/>
          <p:cNvSpPr txBox="1"/>
          <p:nvPr/>
        </p:nvSpPr>
        <p:spPr>
          <a:xfrm>
            <a:off x="610968" y="1771856"/>
            <a:ext cx="8877900" cy="489480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Clr>
                <a:srgbClr val="000000"/>
              </a:buClr>
              <a:buSzPts val="2400"/>
              <a:buFont typeface="Arial"/>
              <a:buNone/>
            </a:pPr>
            <a:r>
              <a:rPr lang="es-CO" sz="2400">
                <a:solidFill>
                  <a:schemeClr val="dk1"/>
                </a:solidFill>
                <a:latin typeface="Work Sans Medium"/>
                <a:ea typeface="Work Sans Medium"/>
                <a:cs typeface="Work Sans Medium"/>
                <a:sym typeface="Work Sans Medium"/>
              </a:rPr>
              <a:t>La empresa UrbanCop presenta dificultades en el control de la personalización y forma de sus productos (gorras), lo cual ha generado errores frecuentes en los pedidos. Esto ha provocado la entrega de productos con características erróneas, afectando la satisfacción de los clientes y generando pérdidas económicas. Además, la información dispersa sobre pedidos y producción complica la coordinación interna, ocasionando retrasos y fallos en la calidad final.</a:t>
            </a:r>
            <a:endParaRPr sz="3200" b="0" i="0" u="none" strike="noStrike" cap="none">
              <a:solidFill>
                <a:schemeClr val="dk1"/>
              </a:solidFill>
              <a:latin typeface="Century Schoolbook"/>
              <a:ea typeface="Century Schoolbook"/>
              <a:cs typeface="Century Schoolbook"/>
              <a:sym typeface="Century Schoolbook"/>
            </a:endParaRPr>
          </a:p>
        </p:txBody>
      </p:sp>
      <p:sp>
        <p:nvSpPr>
          <p:cNvPr id="123" name="Google Shape;123;p2"/>
          <p:cNvSpPr txBox="1"/>
          <p:nvPr/>
        </p:nvSpPr>
        <p:spPr>
          <a:xfrm>
            <a:off x="296175" y="15123"/>
            <a:ext cx="10515600" cy="1325563"/>
          </a:xfrm>
          <a:prstGeom prst="rect">
            <a:avLst/>
          </a:prstGeom>
          <a:noFill/>
          <a:ln>
            <a:noFill/>
          </a:ln>
        </p:spPr>
        <p:txBody>
          <a:bodyPr spcFirstLastPara="1" wrap="square" lIns="91425" tIns="45700" rIns="91425" bIns="45700" anchor="ctr" anchorCtr="0">
            <a:normAutofit fontScale="82500" lnSpcReduction="20000"/>
          </a:bodyPr>
          <a:lstStyle/>
          <a:p>
            <a:pPr marL="0" marR="0" lvl="0" indent="0" algn="l" rtl="0">
              <a:lnSpc>
                <a:spcPct val="90000"/>
              </a:lnSpc>
              <a:spcBef>
                <a:spcPts val="0"/>
              </a:spcBef>
              <a:spcAft>
                <a:spcPts val="0"/>
              </a:spcAft>
              <a:buClr>
                <a:schemeClr val="dk1"/>
              </a:buClr>
              <a:buSzPct val="100000"/>
              <a:buFont typeface="Calibri"/>
              <a:buNone/>
            </a:pPr>
            <a:br>
              <a:rPr lang="es-CO" sz="4400" b="0" i="0" u="none" strike="noStrike" cap="none">
                <a:solidFill>
                  <a:schemeClr val="dk1"/>
                </a:solidFill>
                <a:latin typeface="Calibri"/>
                <a:ea typeface="Calibri"/>
                <a:cs typeface="Calibri"/>
                <a:sym typeface="Calibri"/>
              </a:rPr>
            </a:br>
            <a:r>
              <a:rPr lang="es-CO" sz="4800" b="1" i="0" u="none" strike="noStrike" cap="none">
                <a:solidFill>
                  <a:schemeClr val="lt1"/>
                </a:solidFill>
                <a:latin typeface="Work Sans Medium"/>
                <a:ea typeface="Work Sans Medium"/>
                <a:cs typeface="Work Sans Medium"/>
                <a:sym typeface="Work Sans Medium"/>
              </a:rPr>
              <a:t>PLANTEAMIENTO DEL PROBLEMA.</a:t>
            </a:r>
            <a:br>
              <a:rPr lang="es-CO" sz="9600" b="0" i="0" u="none" strike="noStrike" cap="none">
                <a:solidFill>
                  <a:schemeClr val="dk1"/>
                </a:solidFill>
                <a:latin typeface="Work Sans Light"/>
                <a:ea typeface="Work Sans Light"/>
                <a:cs typeface="Work Sans Light"/>
                <a:sym typeface="Work Sans Light"/>
              </a:rPr>
            </a:br>
            <a:endParaRPr sz="440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3"/>
          <p:cNvSpPr txBox="1"/>
          <p:nvPr/>
        </p:nvSpPr>
        <p:spPr>
          <a:xfrm>
            <a:off x="839449" y="1837983"/>
            <a:ext cx="7240200" cy="4525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s-CO" sz="3600">
                <a:solidFill>
                  <a:schemeClr val="dk1"/>
                </a:solidFill>
                <a:latin typeface="Work Sans Medium"/>
                <a:ea typeface="Work Sans Medium"/>
                <a:cs typeface="Work Sans Medium"/>
                <a:sym typeface="Work Sans Medium"/>
              </a:rPr>
              <a:t>¿De qué manera puede UrbanCop implementar un sistema eficiente que permita un control preciso de la personalización y forma de las gorras, evitando errores en los pedidos y mejorando la coordinación interna?</a:t>
            </a:r>
            <a:endParaRPr sz="3600" b="0" i="0" u="none" strike="noStrike" cap="none">
              <a:solidFill>
                <a:schemeClr val="dk1"/>
              </a:solidFill>
              <a:latin typeface="Work Sans Medium"/>
              <a:ea typeface="Work Sans Medium"/>
              <a:cs typeface="Work Sans Medium"/>
              <a:sym typeface="Work Sans Medium"/>
            </a:endParaRPr>
          </a:p>
        </p:txBody>
      </p:sp>
      <p:sp>
        <p:nvSpPr>
          <p:cNvPr id="129" name="Google Shape;129;p3"/>
          <p:cNvSpPr txBox="1"/>
          <p:nvPr/>
        </p:nvSpPr>
        <p:spPr>
          <a:xfrm>
            <a:off x="219768" y="128822"/>
            <a:ext cx="10515600" cy="1325563"/>
          </a:xfrm>
          <a:prstGeom prst="rect">
            <a:avLst/>
          </a:prstGeom>
          <a:noFill/>
          <a:ln>
            <a:noFill/>
          </a:ln>
        </p:spPr>
        <p:txBody>
          <a:bodyPr spcFirstLastPara="1" wrap="square" lIns="91425" tIns="45700" rIns="91425" bIns="45700" anchor="ctr" anchorCtr="0">
            <a:normAutofit fontScale="75000" lnSpcReduction="20000"/>
          </a:bodyPr>
          <a:lstStyle/>
          <a:p>
            <a:pPr marL="0" marR="0" lvl="0" indent="0" algn="l" rtl="0">
              <a:lnSpc>
                <a:spcPct val="90000"/>
              </a:lnSpc>
              <a:spcBef>
                <a:spcPts val="0"/>
              </a:spcBef>
              <a:spcAft>
                <a:spcPts val="0"/>
              </a:spcAft>
              <a:buClr>
                <a:schemeClr val="dk1"/>
              </a:buClr>
              <a:buSzPct val="100000"/>
              <a:buFont typeface="Calibri"/>
              <a:buNone/>
            </a:pPr>
            <a:br>
              <a:rPr lang="es-CO" sz="4400" b="0" i="0" u="none" strike="noStrike" cap="none">
                <a:solidFill>
                  <a:schemeClr val="dk1"/>
                </a:solidFill>
                <a:latin typeface="Calibri"/>
                <a:ea typeface="Calibri"/>
                <a:cs typeface="Calibri"/>
                <a:sym typeface="Calibri"/>
              </a:rPr>
            </a:br>
            <a:r>
              <a:rPr lang="es-CO" sz="5400" b="1" i="0" u="none" strike="noStrike" cap="none">
                <a:solidFill>
                  <a:schemeClr val="lt1"/>
                </a:solidFill>
                <a:latin typeface="Work Sans Medium"/>
                <a:ea typeface="Work Sans Medium"/>
                <a:cs typeface="Work Sans Medium"/>
                <a:sym typeface="Work Sans Medium"/>
              </a:rPr>
              <a:t>PREGUNTA PROBLEMA.</a:t>
            </a:r>
            <a:br>
              <a:rPr lang="es-CO" sz="9600" b="0" i="0" u="none" strike="noStrike" cap="none">
                <a:solidFill>
                  <a:schemeClr val="dk1"/>
                </a:solidFill>
                <a:latin typeface="Work Sans Light"/>
                <a:ea typeface="Work Sans Light"/>
                <a:cs typeface="Work Sans Light"/>
                <a:sym typeface="Work Sans Light"/>
              </a:rPr>
            </a:br>
            <a:endParaRPr sz="4400" b="0" i="0" u="none" strike="noStrike" cap="none">
              <a:solidFill>
                <a:schemeClr val="dk1"/>
              </a:solidFill>
              <a:latin typeface="Calibri"/>
              <a:ea typeface="Calibri"/>
              <a:cs typeface="Calibri"/>
              <a:sym typeface="Calibri"/>
            </a:endParaRPr>
          </a:p>
        </p:txBody>
      </p:sp>
      <p:pic>
        <p:nvPicPr>
          <p:cNvPr id="130" name="Google Shape;130;p3" descr="Imágenes de Detectar Problema - Descarga gratuita en Freepik"/>
          <p:cNvPicPr preferRelativeResize="0"/>
          <p:nvPr/>
        </p:nvPicPr>
        <p:blipFill rotWithShape="1">
          <a:blip r:embed="rId3">
            <a:alphaModFix/>
          </a:blip>
          <a:srcRect/>
          <a:stretch/>
        </p:blipFill>
        <p:spPr>
          <a:xfrm>
            <a:off x="8795164" y="2599074"/>
            <a:ext cx="3002094" cy="300209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7"/>
          <p:cNvSpPr txBox="1">
            <a:spLocks noGrp="1"/>
          </p:cNvSpPr>
          <p:nvPr>
            <p:ph type="title"/>
          </p:nvPr>
        </p:nvSpPr>
        <p:spPr>
          <a:xfrm>
            <a:off x="283029" y="120196"/>
            <a:ext cx="10515600" cy="132556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Work Sans Medium"/>
              <a:buNone/>
            </a:pPr>
            <a:br>
              <a:rPr lang="es-CO" sz="3600" b="1">
                <a:latin typeface="Work Sans Medium"/>
                <a:ea typeface="Work Sans Medium"/>
                <a:cs typeface="Work Sans Medium"/>
                <a:sym typeface="Work Sans Medium"/>
              </a:rPr>
            </a:br>
            <a:r>
              <a:rPr lang="es-CO" b="1">
                <a:solidFill>
                  <a:schemeClr val="lt1"/>
                </a:solidFill>
                <a:latin typeface="Work Sans Medium"/>
                <a:ea typeface="Work Sans Medium"/>
                <a:cs typeface="Work Sans Medium"/>
                <a:sym typeface="Work Sans Medium"/>
              </a:rPr>
              <a:t>JUSTIFICACIÓN.</a:t>
            </a:r>
            <a:br>
              <a:rPr lang="es-CO" sz="9600">
                <a:latin typeface="Work Sans Light"/>
                <a:ea typeface="Work Sans Light"/>
                <a:cs typeface="Work Sans Light"/>
                <a:sym typeface="Work Sans Light"/>
              </a:rPr>
            </a:br>
            <a:endParaRPr/>
          </a:p>
        </p:txBody>
      </p:sp>
      <p:sp>
        <p:nvSpPr>
          <p:cNvPr id="136" name="Google Shape;136;p7"/>
          <p:cNvSpPr txBox="1"/>
          <p:nvPr/>
        </p:nvSpPr>
        <p:spPr>
          <a:xfrm>
            <a:off x="838200" y="1820550"/>
            <a:ext cx="10515600" cy="504870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Clr>
                <a:srgbClr val="000000"/>
              </a:buClr>
              <a:buSzPts val="3000"/>
              <a:buFont typeface="Arial"/>
              <a:buNone/>
            </a:pPr>
            <a:r>
              <a:rPr lang="es-CO" sz="2800"/>
              <a:t>UrbanCop requiere un sistema de información que permita mejorar la gestión de pedidos personalizados de gorras, reduciendo así errores en la producción y asegurando que los productos entregados correspondan exactamente a lo solicitado por el cliente. Esto no solo contribuirá a una reducción de costos operativos y devoluciones, sino que fortalecerá la confianza del cliente, mejorará la imagen de marca y aumentará la eficiencia del equipo de trabajo.</a:t>
            </a:r>
            <a:endParaRPr sz="2800" b="0" i="0" u="none" strike="noStrike" cap="none">
              <a:solidFill>
                <a:schemeClr val="dk1"/>
              </a:solidFill>
              <a:latin typeface="Work Sans Medium"/>
              <a:ea typeface="Work Sans Medium"/>
              <a:cs typeface="Work Sans Medium"/>
              <a:sym typeface="Work Sans Medium"/>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g362679b608e_0_3"/>
          <p:cNvSpPr txBox="1">
            <a:spLocks noGrp="1"/>
          </p:cNvSpPr>
          <p:nvPr>
            <p:ph type="title"/>
          </p:nvPr>
        </p:nvSpPr>
        <p:spPr>
          <a:xfrm>
            <a:off x="283029" y="120196"/>
            <a:ext cx="10515600" cy="13257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Work Sans Medium"/>
              <a:buNone/>
            </a:pPr>
            <a:br>
              <a:rPr lang="es-CO" sz="3600" b="1">
                <a:latin typeface="Work Sans Medium"/>
                <a:ea typeface="Work Sans Medium"/>
                <a:cs typeface="Work Sans Medium"/>
                <a:sym typeface="Work Sans Medium"/>
              </a:rPr>
            </a:br>
            <a:r>
              <a:rPr lang="es-CO" b="1">
                <a:solidFill>
                  <a:schemeClr val="lt1"/>
                </a:solidFill>
                <a:latin typeface="Work Sans Medium"/>
                <a:ea typeface="Work Sans Medium"/>
                <a:cs typeface="Work Sans Medium"/>
                <a:sym typeface="Work Sans Medium"/>
              </a:rPr>
              <a:t>JUSTIFICACIÓN.</a:t>
            </a:r>
            <a:br>
              <a:rPr lang="es-CO" sz="9600">
                <a:latin typeface="Work Sans Light"/>
                <a:ea typeface="Work Sans Light"/>
                <a:cs typeface="Work Sans Light"/>
                <a:sym typeface="Work Sans Light"/>
              </a:rPr>
            </a:br>
            <a:endParaRPr/>
          </a:p>
        </p:txBody>
      </p:sp>
      <p:sp>
        <p:nvSpPr>
          <p:cNvPr id="142" name="Google Shape;142;g362679b608e_0_3"/>
          <p:cNvSpPr txBox="1"/>
          <p:nvPr/>
        </p:nvSpPr>
        <p:spPr>
          <a:xfrm>
            <a:off x="838200" y="1820550"/>
            <a:ext cx="10515600" cy="246270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Clr>
                <a:srgbClr val="000000"/>
              </a:buClr>
              <a:buSzPts val="3000"/>
              <a:buFont typeface="Arial"/>
              <a:buNone/>
            </a:pPr>
            <a:r>
              <a:rPr lang="es-CO" sz="2800"/>
              <a:t>Además, este sistema facilitará tareas diarias como el seguimiento de inventarios, el control de pedidos, devoluciones y gestión de proveedores, permitiendo tomar decisiones basadas en información precisa y actualizada.</a:t>
            </a:r>
            <a:endParaRPr sz="2800" b="0" i="0" u="none" strike="noStrike" cap="none">
              <a:solidFill>
                <a:schemeClr val="dk1"/>
              </a:solidFill>
              <a:latin typeface="Work Sans Medium"/>
              <a:ea typeface="Work Sans Medium"/>
              <a:cs typeface="Work Sans Medium"/>
              <a:sym typeface="Work Sans Medium"/>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8"/>
          <p:cNvSpPr txBox="1">
            <a:spLocks noGrp="1"/>
          </p:cNvSpPr>
          <p:nvPr>
            <p:ph type="title"/>
          </p:nvPr>
        </p:nvSpPr>
        <p:spPr>
          <a:xfrm>
            <a:off x="283029" y="120196"/>
            <a:ext cx="10515600" cy="132556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lt1"/>
              </a:buClr>
              <a:buSzPct val="100000"/>
              <a:buFont typeface="Work Sans Medium"/>
              <a:buNone/>
            </a:pPr>
            <a:br>
              <a:rPr lang="es-CO" b="1">
                <a:solidFill>
                  <a:schemeClr val="lt1"/>
                </a:solidFill>
                <a:latin typeface="Work Sans Medium"/>
                <a:ea typeface="Work Sans Medium"/>
                <a:cs typeface="Work Sans Medium"/>
                <a:sym typeface="Work Sans Medium"/>
              </a:rPr>
            </a:br>
            <a:r>
              <a:rPr lang="es-CO" b="1">
                <a:solidFill>
                  <a:schemeClr val="lt1"/>
                </a:solidFill>
                <a:latin typeface="Work Sans Medium"/>
                <a:ea typeface="Work Sans Medium"/>
                <a:cs typeface="Work Sans Medium"/>
                <a:sym typeface="Work Sans Medium"/>
              </a:rPr>
              <a:t>Alcance y delimitación del proyecto.</a:t>
            </a:r>
            <a:br>
              <a:rPr lang="es-CO" sz="9600">
                <a:latin typeface="Century Schoolbook"/>
                <a:ea typeface="Century Schoolbook"/>
                <a:cs typeface="Century Schoolbook"/>
                <a:sym typeface="Century Schoolbook"/>
              </a:rPr>
            </a:br>
            <a:endParaRPr/>
          </a:p>
        </p:txBody>
      </p:sp>
      <p:sp>
        <p:nvSpPr>
          <p:cNvPr id="148" name="Google Shape;148;p8"/>
          <p:cNvSpPr txBox="1"/>
          <p:nvPr/>
        </p:nvSpPr>
        <p:spPr>
          <a:xfrm>
            <a:off x="1162050" y="1581150"/>
            <a:ext cx="10096500" cy="5110200"/>
          </a:xfrm>
          <a:prstGeom prst="rect">
            <a:avLst/>
          </a:prstGeom>
          <a:noFill/>
          <a:ln>
            <a:noFill/>
          </a:ln>
        </p:spPr>
        <p:txBody>
          <a:bodyPr spcFirstLastPara="1" wrap="square" lIns="91425" tIns="45700" rIns="91425" bIns="45700" anchor="t" anchorCtr="0">
            <a:spAutoFit/>
          </a:bodyPr>
          <a:lstStyle/>
          <a:p>
            <a:pPr marL="0" lvl="0" indent="0" algn="l" rtl="0">
              <a:lnSpc>
                <a:spcPct val="115000"/>
              </a:lnSpc>
              <a:spcBef>
                <a:spcPts val="1200"/>
              </a:spcBef>
              <a:spcAft>
                <a:spcPts val="0"/>
              </a:spcAft>
              <a:buClr>
                <a:schemeClr val="dk1"/>
              </a:buClr>
              <a:buSzPts val="1100"/>
              <a:buFont typeface="Arial"/>
              <a:buNone/>
            </a:pPr>
            <a:r>
              <a:rPr lang="es-CO" sz="2000">
                <a:solidFill>
                  <a:schemeClr val="dk1"/>
                </a:solidFill>
              </a:rPr>
              <a:t>Este proyecto tiene como propósito el desarrollo de un sistema de información orientado a mejorar la eficiencia operativa de la empresa </a:t>
            </a:r>
            <a:r>
              <a:rPr lang="es-CO" sz="2000" i="1">
                <a:solidFill>
                  <a:schemeClr val="dk1"/>
                </a:solidFill>
              </a:rPr>
              <a:t>UrbanCop</a:t>
            </a:r>
            <a:r>
              <a:rPr lang="es-CO" sz="2000">
                <a:solidFill>
                  <a:schemeClr val="dk1"/>
                </a:solidFill>
              </a:rPr>
              <a:t>, enfocándose únicamente en tres áreas clave: </a:t>
            </a:r>
            <a:r>
              <a:rPr lang="es-CO" sz="2000" b="1">
                <a:solidFill>
                  <a:schemeClr val="dk1"/>
                </a:solidFill>
              </a:rPr>
              <a:t>personalización de productos, gestión de pedidos y control de ventas</a:t>
            </a:r>
            <a:r>
              <a:rPr lang="es-CO" sz="2000">
                <a:solidFill>
                  <a:schemeClr val="dk1"/>
                </a:solidFill>
              </a:rPr>
              <a:t>.</a:t>
            </a:r>
            <a:endParaRPr sz="20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s-CO" sz="2000" b="1">
                <a:solidFill>
                  <a:schemeClr val="dk1"/>
                </a:solidFill>
              </a:rPr>
              <a:t>Alcance:</a:t>
            </a:r>
            <a:endParaRPr sz="20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s-CO" sz="2000">
                <a:solidFill>
                  <a:schemeClr val="dk1"/>
                </a:solidFill>
              </a:rPr>
              <a:t>El sistema permitirá registrar y gestionar las características personalizadas de cada gorra solicitada por el cliente, incluyendo datos como diseño, color, talla y estilo. Además, el sistema permitirá ingresar, modificar y hacer seguimiento a los pedidos en curso, y facilitará el control de las ventas realizadas, brindando a la empresa información organizada y accesible sobre el estado de cada transacción.</a:t>
            </a:r>
            <a:endParaRPr sz="2000">
              <a:solidFill>
                <a:schemeClr val="dk1"/>
              </a:solidFill>
            </a:endParaRPr>
          </a:p>
          <a:p>
            <a:pPr marL="0" lvl="0" indent="0" algn="l" rtl="0">
              <a:lnSpc>
                <a:spcPct val="115000"/>
              </a:lnSpc>
              <a:spcBef>
                <a:spcPts val="1200"/>
              </a:spcBef>
              <a:spcAft>
                <a:spcPts val="1200"/>
              </a:spcAft>
              <a:buClr>
                <a:schemeClr val="dk1"/>
              </a:buClr>
              <a:buSzPts val="1100"/>
              <a:buFont typeface="Arial"/>
              <a:buNone/>
            </a:pPr>
            <a:r>
              <a:rPr lang="es-CO" sz="2000">
                <a:solidFill>
                  <a:schemeClr val="dk1"/>
                </a:solidFill>
              </a:rPr>
              <a:t>También se incluirá la generación de reportes que integren información sobre pedidos, productos personalizados y ventas, con el fin de apoyar la toma de decisiones administrativas y mejorar la experiencia del cliente.</a:t>
            </a:r>
            <a:endParaRPr sz="27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9"/>
          <p:cNvSpPr txBox="1">
            <a:spLocks noGrp="1"/>
          </p:cNvSpPr>
          <p:nvPr>
            <p:ph type="title"/>
          </p:nvPr>
        </p:nvSpPr>
        <p:spPr>
          <a:xfrm>
            <a:off x="283029" y="120196"/>
            <a:ext cx="10515600" cy="132556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Work Sans Medium"/>
              <a:buNone/>
            </a:pPr>
            <a:br>
              <a:rPr lang="es-CO">
                <a:latin typeface="Work Sans Medium"/>
                <a:ea typeface="Work Sans Medium"/>
                <a:cs typeface="Work Sans Medium"/>
                <a:sym typeface="Work Sans Medium"/>
              </a:rPr>
            </a:br>
            <a:r>
              <a:rPr lang="es-CO" b="1">
                <a:solidFill>
                  <a:schemeClr val="lt1"/>
                </a:solidFill>
                <a:latin typeface="Work Sans Medium"/>
                <a:ea typeface="Work Sans Medium"/>
                <a:cs typeface="Work Sans Medium"/>
                <a:sym typeface="Work Sans Medium"/>
              </a:rPr>
              <a:t>Alcance y delimitación del proyecto</a:t>
            </a:r>
            <a:br>
              <a:rPr lang="es-CO" sz="9600">
                <a:latin typeface="Century Schoolbook"/>
                <a:ea typeface="Century Schoolbook"/>
                <a:cs typeface="Century Schoolbook"/>
                <a:sym typeface="Century Schoolbook"/>
              </a:rPr>
            </a:br>
            <a:endParaRPr/>
          </a:p>
        </p:txBody>
      </p:sp>
      <p:sp>
        <p:nvSpPr>
          <p:cNvPr id="155" name="Google Shape;155;p9"/>
          <p:cNvSpPr txBox="1"/>
          <p:nvPr/>
        </p:nvSpPr>
        <p:spPr>
          <a:xfrm>
            <a:off x="1468650" y="1713850"/>
            <a:ext cx="9254700" cy="44946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chemeClr val="dk1"/>
              </a:buClr>
              <a:buSzPts val="1100"/>
              <a:buFont typeface="Arial"/>
              <a:buNone/>
            </a:pPr>
            <a:r>
              <a:rPr lang="es-CO" sz="2200">
                <a:solidFill>
                  <a:schemeClr val="dk1"/>
                </a:solidFill>
                <a:latin typeface="Work Sans Medium"/>
                <a:ea typeface="Work Sans Medium"/>
                <a:cs typeface="Work Sans Medium"/>
                <a:sym typeface="Work Sans Medium"/>
              </a:rPr>
              <a:t>El sistema no incluirá funciones relacionadas con la gestión de proveedores ni el control de inventarios. Tampoco abarcará aspectos del diseño gráfico de los productos, la producción física de las gorras ni la atención postventa. La solución será una plataforma sencilla, adaptable y amigable, diseñada para funcionar principalmente en ambientes web y orientada a equipos que realizan labores administrativas y de atención comercial. La implementación será manual o semi-manual en algunas etapas, sin automatizaciones avanzadas ni integraciones externas. Finalmente, el sistema estará dirigido únicamente al entorno interno de UrbanCop, sin funcionalidades orientadas al cliente final o público general. ¿Te gustaría que esta versión también la agregue directamente</a:t>
            </a:r>
            <a:endParaRPr sz="2200">
              <a:solidFill>
                <a:schemeClr val="dk1"/>
              </a:solidFill>
              <a:latin typeface="Work Sans Medium"/>
              <a:ea typeface="Work Sans Medium"/>
              <a:cs typeface="Work Sans Medium"/>
              <a:sym typeface="Work Sans Medium"/>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10"/>
          <p:cNvSpPr txBox="1"/>
          <p:nvPr/>
        </p:nvSpPr>
        <p:spPr>
          <a:xfrm>
            <a:off x="283029" y="120196"/>
            <a:ext cx="10515600" cy="1325563"/>
          </a:xfrm>
          <a:prstGeom prst="rect">
            <a:avLst/>
          </a:prstGeom>
          <a:noFill/>
          <a:ln>
            <a:noFill/>
          </a:ln>
        </p:spPr>
        <p:txBody>
          <a:bodyPr spcFirstLastPara="1" wrap="square" lIns="91425" tIns="45700" rIns="91425" bIns="45700" anchor="ctr" anchorCtr="0">
            <a:normAutofit fontScale="90000" lnSpcReduction="20000"/>
          </a:bodyPr>
          <a:lstStyle/>
          <a:p>
            <a:pPr marL="0" marR="0" lvl="0" indent="0" algn="l" rtl="0">
              <a:lnSpc>
                <a:spcPct val="90000"/>
              </a:lnSpc>
              <a:spcBef>
                <a:spcPts val="0"/>
              </a:spcBef>
              <a:spcAft>
                <a:spcPts val="0"/>
              </a:spcAft>
              <a:buClr>
                <a:schemeClr val="dk1"/>
              </a:buClr>
              <a:buSzPct val="100000"/>
              <a:buFont typeface="Work Sans Medium"/>
              <a:buNone/>
            </a:pPr>
            <a:br>
              <a:rPr lang="es-CO" sz="3600" b="1" i="0" u="none" strike="noStrike" cap="none">
                <a:solidFill>
                  <a:schemeClr val="dk1"/>
                </a:solidFill>
                <a:latin typeface="Work Sans Medium"/>
                <a:ea typeface="Work Sans Medium"/>
                <a:cs typeface="Work Sans Medium"/>
                <a:sym typeface="Work Sans Medium"/>
              </a:rPr>
            </a:br>
            <a:r>
              <a:rPr lang="es-CO" sz="4400" b="1" i="0" u="none" strike="noStrike" cap="none">
                <a:solidFill>
                  <a:schemeClr val="lt1"/>
                </a:solidFill>
                <a:latin typeface="Work Sans Medium"/>
                <a:ea typeface="Work Sans Medium"/>
                <a:cs typeface="Work Sans Medium"/>
                <a:sym typeface="Work Sans Medium"/>
              </a:rPr>
              <a:t>REQUISITOS FUNCIONALES.</a:t>
            </a:r>
            <a:br>
              <a:rPr lang="es-CO" sz="9600" b="0" i="0" u="none" strike="noStrike" cap="none">
                <a:solidFill>
                  <a:schemeClr val="dk1"/>
                </a:solidFill>
                <a:latin typeface="Work Sans Light"/>
                <a:ea typeface="Work Sans Light"/>
                <a:cs typeface="Work Sans Light"/>
                <a:sym typeface="Work Sans Light"/>
              </a:rPr>
            </a:br>
            <a:endParaRPr sz="4400" b="0" i="0" u="none" strike="noStrike" cap="none">
              <a:solidFill>
                <a:schemeClr val="dk1"/>
              </a:solidFill>
              <a:latin typeface="Calibri"/>
              <a:ea typeface="Calibri"/>
              <a:cs typeface="Calibri"/>
              <a:sym typeface="Calibri"/>
            </a:endParaRPr>
          </a:p>
        </p:txBody>
      </p:sp>
      <p:sp>
        <p:nvSpPr>
          <p:cNvPr id="161" name="Google Shape;161;p10"/>
          <p:cNvSpPr txBox="1"/>
          <p:nvPr/>
        </p:nvSpPr>
        <p:spPr>
          <a:xfrm>
            <a:off x="1924800" y="1772325"/>
            <a:ext cx="8342400" cy="4618916"/>
          </a:xfrm>
          <a:prstGeom prst="rect">
            <a:avLst/>
          </a:prstGeom>
          <a:noFill/>
          <a:ln>
            <a:noFill/>
          </a:ln>
        </p:spPr>
        <p:txBody>
          <a:bodyPr spcFirstLastPara="1" wrap="square" lIns="91425" tIns="45700" rIns="91425" bIns="45700" anchor="t" anchorCtr="0">
            <a:spAutoFit/>
          </a:bodyPr>
          <a:lstStyle/>
          <a:p>
            <a:pPr marL="0" lvl="0" indent="0" algn="l" rtl="0">
              <a:lnSpc>
                <a:spcPct val="115000"/>
              </a:lnSpc>
              <a:spcBef>
                <a:spcPts val="1200"/>
              </a:spcBef>
              <a:spcAft>
                <a:spcPts val="0"/>
              </a:spcAft>
              <a:buClr>
                <a:schemeClr val="dk1"/>
              </a:buClr>
              <a:buSzPts val="1100"/>
              <a:buFont typeface="Arial"/>
              <a:buNone/>
            </a:pPr>
            <a:r>
              <a:rPr lang="es-CO" sz="1300" b="1" dirty="0">
                <a:solidFill>
                  <a:schemeClr val="dk1"/>
                </a:solidFill>
              </a:rPr>
              <a:t> 1. </a:t>
            </a:r>
            <a:r>
              <a:rPr lang="es-MX" sz="1300" b="1" dirty="0">
                <a:solidFill>
                  <a:schemeClr val="dk1"/>
                </a:solidFill>
              </a:rPr>
              <a:t>Módulo de Autenticación y Usuarios</a:t>
            </a:r>
          </a:p>
          <a:p>
            <a:pPr marL="457200" lvl="0" indent="-311150" algn="l" rtl="0">
              <a:lnSpc>
                <a:spcPct val="115000"/>
              </a:lnSpc>
              <a:spcBef>
                <a:spcPts val="1200"/>
              </a:spcBef>
              <a:spcAft>
                <a:spcPts val="0"/>
              </a:spcAft>
              <a:buClr>
                <a:schemeClr val="dk1"/>
              </a:buClr>
              <a:buSzPts val="1300"/>
              <a:buChar char="●"/>
            </a:pPr>
            <a:r>
              <a:rPr lang="es-MX" sz="1300" b="1" dirty="0">
                <a:solidFill>
                  <a:schemeClr val="dk1"/>
                </a:solidFill>
              </a:rPr>
              <a:t>RF-01:</a:t>
            </a:r>
            <a:r>
              <a:rPr lang="es-MX" sz="1300" dirty="0">
                <a:solidFill>
                  <a:schemeClr val="dk1"/>
                </a:solidFill>
              </a:rPr>
              <a:t> Permitir el registro de nuevos usuarios con nombre, correo y contraseña.</a:t>
            </a:r>
            <a:br>
              <a:rPr lang="es-MX" sz="1300" dirty="0">
                <a:solidFill>
                  <a:schemeClr val="dk1"/>
                </a:solidFill>
              </a:rPr>
            </a:br>
            <a:endParaRPr lang="es-MX" sz="1300" dirty="0">
              <a:solidFill>
                <a:schemeClr val="dk1"/>
              </a:solidFill>
            </a:endParaRPr>
          </a:p>
          <a:p>
            <a:pPr marL="457200" lvl="0" indent="-311150" algn="l" rtl="0">
              <a:lnSpc>
                <a:spcPct val="115000"/>
              </a:lnSpc>
              <a:spcBef>
                <a:spcPts val="0"/>
              </a:spcBef>
              <a:spcAft>
                <a:spcPts val="0"/>
              </a:spcAft>
              <a:buClr>
                <a:schemeClr val="dk1"/>
              </a:buClr>
              <a:buSzPts val="1300"/>
              <a:buChar char="●"/>
            </a:pPr>
            <a:r>
              <a:rPr lang="es-CO" sz="1300" b="1" dirty="0">
                <a:solidFill>
                  <a:schemeClr val="dk1"/>
                </a:solidFill>
              </a:rPr>
              <a:t>RF-02:</a:t>
            </a:r>
            <a:r>
              <a:rPr lang="es-CO" sz="1300" dirty="0">
                <a:solidFill>
                  <a:schemeClr val="dk1"/>
                </a:solidFill>
              </a:rPr>
              <a:t> </a:t>
            </a:r>
            <a:r>
              <a:rPr lang="es-MX" sz="1300" dirty="0">
                <a:solidFill>
                  <a:schemeClr val="dk1"/>
                </a:solidFill>
              </a:rPr>
              <a:t>Autenticar usuarios mediante JWT para acceso seguro al sistema.</a:t>
            </a:r>
            <a:br>
              <a:rPr lang="es-CO" sz="1300" dirty="0">
                <a:solidFill>
                  <a:schemeClr val="dk1"/>
                </a:solidFill>
              </a:rPr>
            </a:br>
            <a:endParaRPr sz="1300" dirty="0">
              <a:solidFill>
                <a:schemeClr val="dk1"/>
              </a:solidFill>
            </a:endParaRPr>
          </a:p>
          <a:p>
            <a:pPr marL="457200" lvl="0" indent="-311150" algn="l" rtl="0">
              <a:lnSpc>
                <a:spcPct val="115000"/>
              </a:lnSpc>
              <a:spcBef>
                <a:spcPts val="0"/>
              </a:spcBef>
              <a:spcAft>
                <a:spcPts val="0"/>
              </a:spcAft>
              <a:buClr>
                <a:schemeClr val="dk1"/>
              </a:buClr>
              <a:buSzPts val="1300"/>
              <a:buChar char="●"/>
            </a:pPr>
            <a:r>
              <a:rPr lang="es-CO" sz="1300" b="1" dirty="0">
                <a:solidFill>
                  <a:schemeClr val="dk1"/>
                </a:solidFill>
              </a:rPr>
              <a:t>RF-03:</a:t>
            </a:r>
            <a:r>
              <a:rPr lang="es-CO" sz="1300" dirty="0">
                <a:solidFill>
                  <a:schemeClr val="dk1"/>
                </a:solidFill>
              </a:rPr>
              <a:t> </a:t>
            </a:r>
            <a:r>
              <a:rPr lang="es-MX" sz="1300" dirty="0">
                <a:solidFill>
                  <a:schemeClr val="dk1"/>
                </a:solidFill>
              </a:rPr>
              <a:t>Gestionar roles de usuario (administrador y cliente)</a:t>
            </a:r>
            <a:r>
              <a:rPr lang="es-CO" sz="1300" dirty="0">
                <a:solidFill>
                  <a:schemeClr val="dk1"/>
                </a:solidFill>
              </a:rPr>
              <a:t>.</a:t>
            </a:r>
            <a:br>
              <a:rPr lang="es-CO" sz="1300" dirty="0">
                <a:solidFill>
                  <a:schemeClr val="dk1"/>
                </a:solidFill>
              </a:rPr>
            </a:br>
            <a:endParaRPr sz="1300" dirty="0">
              <a:solidFill>
                <a:schemeClr val="dk1"/>
              </a:solidFill>
            </a:endParaRPr>
          </a:p>
          <a:p>
            <a:pPr marL="457200" lvl="0" indent="-311150" algn="l" rtl="0">
              <a:lnSpc>
                <a:spcPct val="115000"/>
              </a:lnSpc>
              <a:spcBef>
                <a:spcPts val="0"/>
              </a:spcBef>
              <a:spcAft>
                <a:spcPts val="0"/>
              </a:spcAft>
              <a:buClr>
                <a:schemeClr val="dk1"/>
              </a:buClr>
              <a:buSzPts val="1300"/>
              <a:buChar char="●"/>
            </a:pPr>
            <a:r>
              <a:rPr lang="es-CO" sz="1300" b="1" dirty="0">
                <a:solidFill>
                  <a:schemeClr val="dk1"/>
                </a:solidFill>
              </a:rPr>
              <a:t>RF-04:</a:t>
            </a:r>
            <a:r>
              <a:rPr lang="es-CO" sz="1300" dirty="0">
                <a:solidFill>
                  <a:schemeClr val="dk1"/>
                </a:solidFill>
              </a:rPr>
              <a:t> </a:t>
            </a:r>
            <a:r>
              <a:rPr lang="es-MX" sz="1300" dirty="0">
                <a:solidFill>
                  <a:schemeClr val="dk1"/>
                </a:solidFill>
              </a:rPr>
              <a:t>Permitir al administrador crear, editar y eliminar usuarios</a:t>
            </a:r>
            <a:r>
              <a:rPr lang="es-CO" sz="1300" dirty="0">
                <a:solidFill>
                  <a:schemeClr val="dk1"/>
                </a:solidFill>
              </a:rPr>
              <a:t>.</a:t>
            </a:r>
            <a:endParaRPr sz="1300" dirty="0">
              <a:solidFill>
                <a:schemeClr val="dk1"/>
              </a:solidFill>
            </a:endParaRPr>
          </a:p>
          <a:p>
            <a:pPr marL="0" lvl="0" indent="0" algn="l" rtl="0">
              <a:lnSpc>
                <a:spcPct val="115000"/>
              </a:lnSpc>
              <a:spcBef>
                <a:spcPts val="1200"/>
              </a:spcBef>
              <a:spcAft>
                <a:spcPts val="0"/>
              </a:spcAft>
              <a:buNone/>
            </a:pPr>
            <a:r>
              <a:rPr lang="es-CO" sz="1300" b="1" dirty="0">
                <a:solidFill>
                  <a:schemeClr val="dk1"/>
                </a:solidFill>
              </a:rPr>
              <a:t>2. Módulo de Productos e Inventario</a:t>
            </a:r>
            <a:endParaRPr sz="1300" b="1" dirty="0">
              <a:solidFill>
                <a:schemeClr val="dk1"/>
              </a:solidFill>
            </a:endParaRPr>
          </a:p>
          <a:p>
            <a:pPr marL="457200" lvl="0" indent="-311150" algn="l" rtl="0">
              <a:lnSpc>
                <a:spcPct val="115000"/>
              </a:lnSpc>
              <a:spcBef>
                <a:spcPts val="1200"/>
              </a:spcBef>
              <a:spcAft>
                <a:spcPts val="0"/>
              </a:spcAft>
              <a:buClr>
                <a:schemeClr val="dk1"/>
              </a:buClr>
              <a:buSzPts val="1300"/>
              <a:buChar char="●"/>
            </a:pPr>
            <a:r>
              <a:rPr lang="es-CO" sz="1300" b="1" dirty="0">
                <a:solidFill>
                  <a:schemeClr val="dk1"/>
                </a:solidFill>
              </a:rPr>
              <a:t>RF-05:</a:t>
            </a:r>
            <a:r>
              <a:rPr lang="es-CO" sz="1300" dirty="0">
                <a:solidFill>
                  <a:schemeClr val="dk1"/>
                </a:solidFill>
              </a:rPr>
              <a:t> </a:t>
            </a:r>
            <a:r>
              <a:rPr lang="es-MX" sz="1300" dirty="0">
                <a:solidFill>
                  <a:schemeClr val="dk1"/>
                </a:solidFill>
              </a:rPr>
              <a:t>Registrar productos con nombre, descripción, precio, categoría e imagen.</a:t>
            </a:r>
            <a:br>
              <a:rPr lang="es-CO" sz="1300" dirty="0">
                <a:solidFill>
                  <a:schemeClr val="dk1"/>
                </a:solidFill>
              </a:rPr>
            </a:br>
            <a:endParaRPr sz="1300" dirty="0">
              <a:solidFill>
                <a:schemeClr val="dk1"/>
              </a:solidFill>
            </a:endParaRPr>
          </a:p>
          <a:p>
            <a:pPr marL="457200" lvl="0" indent="-311150" algn="l" rtl="0">
              <a:lnSpc>
                <a:spcPct val="115000"/>
              </a:lnSpc>
              <a:spcBef>
                <a:spcPts val="0"/>
              </a:spcBef>
              <a:spcAft>
                <a:spcPts val="0"/>
              </a:spcAft>
              <a:buClr>
                <a:schemeClr val="dk1"/>
              </a:buClr>
              <a:buSzPts val="1300"/>
              <a:buChar char="●"/>
            </a:pPr>
            <a:r>
              <a:rPr lang="es-CO" sz="1300" b="1" dirty="0">
                <a:solidFill>
                  <a:schemeClr val="dk1"/>
                </a:solidFill>
              </a:rPr>
              <a:t>RF-06:</a:t>
            </a:r>
            <a:r>
              <a:rPr lang="es-CO" sz="1300" dirty="0">
                <a:solidFill>
                  <a:schemeClr val="dk1"/>
                </a:solidFill>
              </a:rPr>
              <a:t> </a:t>
            </a:r>
            <a:r>
              <a:rPr lang="es-MX" sz="1300" dirty="0">
                <a:solidFill>
                  <a:schemeClr val="dk1"/>
                </a:solidFill>
              </a:rPr>
              <a:t>Consultar el catálogo de productos disponibles</a:t>
            </a:r>
            <a:r>
              <a:rPr lang="es-CO" sz="1300" dirty="0">
                <a:solidFill>
                  <a:schemeClr val="dk1"/>
                </a:solidFill>
              </a:rPr>
              <a:t>.</a:t>
            </a:r>
            <a:br>
              <a:rPr lang="es-CO" sz="1300" dirty="0">
                <a:solidFill>
                  <a:schemeClr val="dk1"/>
                </a:solidFill>
              </a:rPr>
            </a:br>
            <a:endParaRPr sz="1300" dirty="0">
              <a:solidFill>
                <a:schemeClr val="dk1"/>
              </a:solidFill>
            </a:endParaRPr>
          </a:p>
          <a:p>
            <a:pPr marL="457200" lvl="0" indent="-311150" algn="l" rtl="0">
              <a:lnSpc>
                <a:spcPct val="115000"/>
              </a:lnSpc>
              <a:spcBef>
                <a:spcPts val="0"/>
              </a:spcBef>
              <a:spcAft>
                <a:spcPts val="0"/>
              </a:spcAft>
              <a:buClr>
                <a:schemeClr val="dk1"/>
              </a:buClr>
              <a:buSzPts val="1300"/>
              <a:buChar char="●"/>
            </a:pPr>
            <a:r>
              <a:rPr lang="es-CO" sz="1300" b="1" dirty="0">
                <a:solidFill>
                  <a:schemeClr val="dk1"/>
                </a:solidFill>
              </a:rPr>
              <a:t>RF-07:</a:t>
            </a:r>
            <a:r>
              <a:rPr lang="es-CO" sz="1300" dirty="0">
                <a:solidFill>
                  <a:schemeClr val="dk1"/>
                </a:solidFill>
              </a:rPr>
              <a:t> </a:t>
            </a:r>
            <a:r>
              <a:rPr lang="es-MX" sz="1300" dirty="0">
                <a:solidFill>
                  <a:schemeClr val="dk1"/>
                </a:solidFill>
              </a:rPr>
              <a:t>Actualizar el stock de productos mediante movimientos de inventario (entrada, salida, ajuste)</a:t>
            </a:r>
            <a:r>
              <a:rPr lang="es-CO" sz="1300" dirty="0">
                <a:solidFill>
                  <a:schemeClr val="dk1"/>
                </a:solidFill>
              </a:rPr>
              <a:t>.</a:t>
            </a:r>
            <a:br>
              <a:rPr lang="es-CO" sz="1300" dirty="0">
                <a:solidFill>
                  <a:schemeClr val="dk1"/>
                </a:solidFill>
              </a:rPr>
            </a:br>
            <a:endParaRPr sz="1300" dirty="0">
              <a:solidFill>
                <a:schemeClr val="dk1"/>
              </a:solidFill>
            </a:endParaRPr>
          </a:p>
          <a:p>
            <a:pPr marL="457200" lvl="0" indent="-311150" algn="l" rtl="0">
              <a:lnSpc>
                <a:spcPct val="115000"/>
              </a:lnSpc>
              <a:spcBef>
                <a:spcPts val="0"/>
              </a:spcBef>
              <a:spcAft>
                <a:spcPts val="0"/>
              </a:spcAft>
              <a:buClr>
                <a:schemeClr val="dk1"/>
              </a:buClr>
              <a:buSzPts val="1300"/>
              <a:buChar char="●"/>
            </a:pPr>
            <a:r>
              <a:rPr lang="es-CO" sz="1300" b="1" dirty="0">
                <a:solidFill>
                  <a:schemeClr val="dk1"/>
                </a:solidFill>
              </a:rPr>
              <a:t>RF-08:</a:t>
            </a:r>
            <a:r>
              <a:rPr lang="es-CO" sz="1300" dirty="0">
                <a:solidFill>
                  <a:schemeClr val="dk1"/>
                </a:solidFill>
              </a:rPr>
              <a:t> </a:t>
            </a:r>
            <a:r>
              <a:rPr lang="es-MX" sz="1300" dirty="0">
                <a:solidFill>
                  <a:schemeClr val="dk1"/>
                </a:solidFill>
              </a:rPr>
              <a:t>Alertar cuando un producto tenga stock bajo</a:t>
            </a:r>
            <a:r>
              <a:rPr lang="es-CO" sz="1300" dirty="0">
                <a:solidFill>
                  <a:schemeClr val="dk1"/>
                </a:solidFill>
              </a:rPr>
              <a:t>.</a:t>
            </a:r>
            <a:br>
              <a:rPr lang="es-CO" sz="1300" dirty="0">
                <a:solidFill>
                  <a:schemeClr val="dk1"/>
                </a:solidFill>
              </a:rPr>
            </a:br>
            <a:endParaRPr sz="1300" dirty="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14"/>
          <p:cNvSpPr txBox="1">
            <a:spLocks noGrp="1"/>
          </p:cNvSpPr>
          <p:nvPr>
            <p:ph type="title"/>
          </p:nvPr>
        </p:nvSpPr>
        <p:spPr>
          <a:xfrm>
            <a:off x="-2628" y="-2737"/>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000"/>
              <a:buFont typeface="Work Sans Medium"/>
              <a:buNone/>
            </a:pPr>
            <a:r>
              <a:rPr lang="es-CO" sz="4000" b="1">
                <a:solidFill>
                  <a:schemeClr val="lt1"/>
                </a:solidFill>
                <a:latin typeface="Work Sans Medium"/>
                <a:ea typeface="Work Sans Medium"/>
                <a:cs typeface="Work Sans Medium"/>
                <a:sym typeface="Work Sans Medium"/>
              </a:rPr>
              <a:t>REQUISITOS  FUNCIONALES.</a:t>
            </a:r>
            <a:endParaRPr sz="4000">
              <a:solidFill>
                <a:schemeClr val="lt1"/>
              </a:solidFill>
              <a:latin typeface="Work Sans Medium"/>
              <a:ea typeface="Work Sans Medium"/>
              <a:cs typeface="Work Sans Medium"/>
              <a:sym typeface="Work Sans Medium"/>
            </a:endParaRPr>
          </a:p>
        </p:txBody>
      </p:sp>
      <p:sp>
        <p:nvSpPr>
          <p:cNvPr id="167" name="Google Shape;167;p14"/>
          <p:cNvSpPr txBox="1"/>
          <p:nvPr/>
        </p:nvSpPr>
        <p:spPr>
          <a:xfrm>
            <a:off x="1566150" y="1637665"/>
            <a:ext cx="9059700" cy="4341148"/>
          </a:xfrm>
          <a:prstGeom prst="rect">
            <a:avLst/>
          </a:prstGeom>
          <a:noFill/>
          <a:ln>
            <a:noFill/>
          </a:ln>
        </p:spPr>
        <p:txBody>
          <a:bodyPr spcFirstLastPara="1" wrap="square" lIns="91425" tIns="45700" rIns="91425" bIns="45700" anchor="t" anchorCtr="0">
            <a:spAutoFit/>
          </a:bodyPr>
          <a:lstStyle/>
          <a:p>
            <a:pPr marL="0" lvl="0" indent="0" algn="l" rtl="0">
              <a:lnSpc>
                <a:spcPct val="115000"/>
              </a:lnSpc>
              <a:spcBef>
                <a:spcPts val="1200"/>
              </a:spcBef>
              <a:spcAft>
                <a:spcPts val="0"/>
              </a:spcAft>
              <a:buNone/>
            </a:pPr>
            <a:r>
              <a:rPr lang="es-CO" sz="1800" b="1" dirty="0">
                <a:solidFill>
                  <a:schemeClr val="dk1"/>
                </a:solidFill>
              </a:rPr>
              <a:t> 3. Módulo de Pedidos</a:t>
            </a:r>
          </a:p>
          <a:p>
            <a:pPr marL="457200" indent="-342900">
              <a:lnSpc>
                <a:spcPct val="115000"/>
              </a:lnSpc>
              <a:spcBef>
                <a:spcPts val="1200"/>
              </a:spcBef>
              <a:buClr>
                <a:schemeClr val="dk1"/>
              </a:buClr>
              <a:buSzPts val="1800"/>
              <a:buFont typeface="Arial"/>
              <a:buChar char="●"/>
            </a:pPr>
            <a:r>
              <a:rPr lang="es-MX" sz="1300" b="1" dirty="0">
                <a:solidFill>
                  <a:schemeClr val="dk1"/>
                </a:solidFill>
              </a:rPr>
              <a:t>RF-09:</a:t>
            </a:r>
            <a:r>
              <a:rPr lang="es-MX" sz="1300" dirty="0">
                <a:solidFill>
                  <a:schemeClr val="dk1"/>
                </a:solidFill>
              </a:rPr>
              <a:t> Registrar nuevos pedidos asociados a un cliente.</a:t>
            </a:r>
          </a:p>
          <a:p>
            <a:pPr marL="457200" indent="-342900">
              <a:lnSpc>
                <a:spcPct val="115000"/>
              </a:lnSpc>
              <a:spcBef>
                <a:spcPts val="1200"/>
              </a:spcBef>
              <a:buClr>
                <a:schemeClr val="dk1"/>
              </a:buClr>
              <a:buSzPts val="1800"/>
              <a:buFont typeface="Arial"/>
              <a:buChar char="●"/>
            </a:pPr>
            <a:r>
              <a:rPr lang="es-CO" sz="1300" b="1" dirty="0">
                <a:solidFill>
                  <a:schemeClr val="dk1"/>
                </a:solidFill>
              </a:rPr>
              <a:t>RF-10:</a:t>
            </a:r>
            <a:r>
              <a:rPr lang="es-CO" sz="1300" dirty="0">
                <a:solidFill>
                  <a:schemeClr val="dk1"/>
                </a:solidFill>
              </a:rPr>
              <a:t> Consultar historial de pedidos por cliente.</a:t>
            </a:r>
            <a:br>
              <a:rPr lang="es-CO" sz="1300" dirty="0">
                <a:solidFill>
                  <a:schemeClr val="dk1"/>
                </a:solidFill>
              </a:rPr>
            </a:br>
            <a:endParaRPr sz="1300" dirty="0">
              <a:solidFill>
                <a:schemeClr val="dk1"/>
              </a:solidFill>
            </a:endParaRPr>
          </a:p>
          <a:p>
            <a:pPr marL="457200" lvl="0" indent="-342900" algn="l" rtl="0">
              <a:lnSpc>
                <a:spcPct val="115000"/>
              </a:lnSpc>
              <a:spcBef>
                <a:spcPts val="0"/>
              </a:spcBef>
              <a:spcAft>
                <a:spcPts val="0"/>
              </a:spcAft>
              <a:buClr>
                <a:schemeClr val="dk1"/>
              </a:buClr>
              <a:buSzPts val="1800"/>
              <a:buChar char="●"/>
            </a:pPr>
            <a:r>
              <a:rPr lang="es-CO" sz="1300" b="1" dirty="0">
                <a:solidFill>
                  <a:schemeClr val="dk1"/>
                </a:solidFill>
              </a:rPr>
              <a:t>RF-11:</a:t>
            </a:r>
            <a:r>
              <a:rPr lang="es-CO" sz="1300" dirty="0">
                <a:solidFill>
                  <a:schemeClr val="dk1"/>
                </a:solidFill>
              </a:rPr>
              <a:t> </a:t>
            </a:r>
            <a:r>
              <a:rPr lang="es-MX" sz="1300" dirty="0">
                <a:solidFill>
                  <a:schemeClr val="dk1"/>
                </a:solidFill>
              </a:rPr>
              <a:t>Actualizar el estado del pedido (pendiente, en proceso, enviado, completado, cancelado)</a:t>
            </a:r>
            <a:r>
              <a:rPr lang="es-CO" sz="1300" dirty="0">
                <a:solidFill>
                  <a:schemeClr val="dk1"/>
                </a:solidFill>
              </a:rPr>
              <a:t>.</a:t>
            </a:r>
            <a:br>
              <a:rPr lang="es-CO" sz="1300" dirty="0">
                <a:solidFill>
                  <a:schemeClr val="dk1"/>
                </a:solidFill>
              </a:rPr>
            </a:br>
            <a:endParaRPr sz="1300" dirty="0">
              <a:solidFill>
                <a:schemeClr val="dk1"/>
              </a:solidFill>
            </a:endParaRPr>
          </a:p>
          <a:p>
            <a:pPr marL="457200" lvl="0" indent="-342900" algn="l" rtl="0">
              <a:lnSpc>
                <a:spcPct val="115000"/>
              </a:lnSpc>
              <a:spcBef>
                <a:spcPts val="0"/>
              </a:spcBef>
              <a:spcAft>
                <a:spcPts val="0"/>
              </a:spcAft>
              <a:buClr>
                <a:schemeClr val="dk1"/>
              </a:buClr>
              <a:buSzPts val="1800"/>
              <a:buChar char="●"/>
            </a:pPr>
            <a:r>
              <a:rPr lang="es-CO" sz="1300" b="1" dirty="0">
                <a:solidFill>
                  <a:schemeClr val="dk1"/>
                </a:solidFill>
              </a:rPr>
              <a:t>RF-12:</a:t>
            </a:r>
            <a:r>
              <a:rPr lang="es-CO" sz="1300" dirty="0">
                <a:solidFill>
                  <a:schemeClr val="dk1"/>
                </a:solidFill>
              </a:rPr>
              <a:t> </a:t>
            </a:r>
            <a:r>
              <a:rPr lang="es-MX" sz="1300" dirty="0">
                <a:solidFill>
                  <a:schemeClr val="dk1"/>
                </a:solidFill>
              </a:rPr>
              <a:t>Cancelar pedidos si aún no han sido procesados</a:t>
            </a:r>
            <a:r>
              <a:rPr lang="es-CO" sz="1300" dirty="0">
                <a:solidFill>
                  <a:schemeClr val="dk1"/>
                </a:solidFill>
              </a:rPr>
              <a:t>.</a:t>
            </a:r>
          </a:p>
          <a:p>
            <a:pPr marL="457200" lvl="0" indent="-342900" algn="l" rtl="0">
              <a:lnSpc>
                <a:spcPct val="115000"/>
              </a:lnSpc>
              <a:spcBef>
                <a:spcPts val="0"/>
              </a:spcBef>
              <a:spcAft>
                <a:spcPts val="0"/>
              </a:spcAft>
              <a:buClr>
                <a:schemeClr val="dk1"/>
              </a:buClr>
              <a:buSzPts val="1800"/>
              <a:buChar char="●"/>
            </a:pPr>
            <a:endParaRPr lang="es-CO" sz="1300" dirty="0">
              <a:solidFill>
                <a:schemeClr val="dk1"/>
              </a:solidFill>
            </a:endParaRPr>
          </a:p>
          <a:p>
            <a:pPr marL="114300" lvl="0">
              <a:lnSpc>
                <a:spcPct val="115000"/>
              </a:lnSpc>
              <a:buClr>
                <a:schemeClr val="dk1"/>
              </a:buClr>
              <a:buSzPts val="1800"/>
            </a:pPr>
            <a:r>
              <a:rPr lang="es-CO" b="1" dirty="0">
                <a:solidFill>
                  <a:schemeClr val="dk1"/>
                </a:solidFill>
              </a:rPr>
              <a:t>4. Módulo de Pedidos</a:t>
            </a:r>
            <a:br>
              <a:rPr lang="es-CO" sz="1300" dirty="0">
                <a:solidFill>
                  <a:schemeClr val="dk1"/>
                </a:solidFill>
              </a:rPr>
            </a:br>
            <a:endParaRPr sz="1300" dirty="0">
              <a:solidFill>
                <a:schemeClr val="dk1"/>
              </a:solidFill>
            </a:endParaRPr>
          </a:p>
          <a:p>
            <a:pPr marL="457200" lvl="0" indent="-342900" algn="l" rtl="0">
              <a:lnSpc>
                <a:spcPct val="115000"/>
              </a:lnSpc>
              <a:spcBef>
                <a:spcPts val="0"/>
              </a:spcBef>
              <a:spcAft>
                <a:spcPts val="0"/>
              </a:spcAft>
              <a:buClr>
                <a:schemeClr val="dk1"/>
              </a:buClr>
              <a:buSzPts val="1800"/>
              <a:buChar char="●"/>
            </a:pPr>
            <a:r>
              <a:rPr lang="es-CO" sz="1300" b="1" dirty="0">
                <a:solidFill>
                  <a:schemeClr val="dk1"/>
                </a:solidFill>
              </a:rPr>
              <a:t>RF-13:</a:t>
            </a:r>
            <a:r>
              <a:rPr lang="es-CO" sz="1300" dirty="0">
                <a:solidFill>
                  <a:schemeClr val="dk1"/>
                </a:solidFill>
              </a:rPr>
              <a:t> </a:t>
            </a:r>
            <a:r>
              <a:rPr lang="es-MX" sz="1300" dirty="0">
                <a:solidFill>
                  <a:schemeClr val="dk1"/>
                </a:solidFill>
              </a:rPr>
              <a:t>Permitir al usuario solicitar personalización de gorras indicando tipo, descripción, color y talla</a:t>
            </a:r>
            <a:r>
              <a:rPr lang="es-CO" sz="1300" dirty="0">
                <a:solidFill>
                  <a:schemeClr val="dk1"/>
                </a:solidFill>
              </a:rPr>
              <a:t>.</a:t>
            </a:r>
            <a:br>
              <a:rPr lang="es-CO" sz="1300" dirty="0">
                <a:solidFill>
                  <a:schemeClr val="dk1"/>
                </a:solidFill>
              </a:rPr>
            </a:br>
            <a:endParaRPr sz="1300" dirty="0">
              <a:solidFill>
                <a:schemeClr val="dk1"/>
              </a:solidFill>
            </a:endParaRPr>
          </a:p>
          <a:p>
            <a:pPr marL="457200" lvl="0" indent="-342900" algn="l" rtl="0">
              <a:lnSpc>
                <a:spcPct val="115000"/>
              </a:lnSpc>
              <a:spcBef>
                <a:spcPts val="0"/>
              </a:spcBef>
              <a:spcAft>
                <a:spcPts val="0"/>
              </a:spcAft>
              <a:buClr>
                <a:schemeClr val="dk1"/>
              </a:buClr>
              <a:buSzPts val="1800"/>
              <a:buChar char="●"/>
            </a:pPr>
            <a:r>
              <a:rPr lang="es-CO" sz="1300" b="1" dirty="0">
                <a:solidFill>
                  <a:schemeClr val="dk1"/>
                </a:solidFill>
              </a:rPr>
              <a:t>RF-14:</a:t>
            </a:r>
            <a:r>
              <a:rPr lang="es-CO" sz="1300" dirty="0">
                <a:solidFill>
                  <a:schemeClr val="dk1"/>
                </a:solidFill>
              </a:rPr>
              <a:t> </a:t>
            </a:r>
            <a:r>
              <a:rPr lang="es-MX" sz="1300" dirty="0">
                <a:solidFill>
                  <a:schemeClr val="dk1"/>
                </a:solidFill>
              </a:rPr>
              <a:t>Asociar cada personalización a un producto y cliente específico</a:t>
            </a:r>
            <a:r>
              <a:rPr lang="es-CO" sz="1300" dirty="0">
                <a:solidFill>
                  <a:schemeClr val="dk1"/>
                </a:solidFill>
              </a:rPr>
              <a:t>.</a:t>
            </a:r>
          </a:p>
          <a:p>
            <a:pPr marL="457200" lvl="0" indent="-342900" algn="l" rtl="0">
              <a:lnSpc>
                <a:spcPct val="115000"/>
              </a:lnSpc>
              <a:spcBef>
                <a:spcPts val="0"/>
              </a:spcBef>
              <a:spcAft>
                <a:spcPts val="0"/>
              </a:spcAft>
              <a:buClr>
                <a:schemeClr val="dk1"/>
              </a:buClr>
              <a:buSzPts val="1800"/>
              <a:buChar char="●"/>
            </a:pPr>
            <a:endParaRPr lang="es-CO" sz="1300" b="0" i="0" u="none" strike="noStrike" cap="none" dirty="0">
              <a:solidFill>
                <a:schemeClr val="dk1"/>
              </a:solidFill>
              <a:latin typeface="Calibri"/>
              <a:ea typeface="Calibri"/>
              <a:cs typeface="Calibri"/>
              <a:sym typeface="Calibri"/>
            </a:endParaRPr>
          </a:p>
          <a:p>
            <a:pPr marL="457200" indent="-342900">
              <a:lnSpc>
                <a:spcPct val="115000"/>
              </a:lnSpc>
              <a:buClr>
                <a:schemeClr val="dk1"/>
              </a:buClr>
              <a:buSzPts val="1800"/>
              <a:buFont typeface="Arial"/>
              <a:buChar char="●"/>
            </a:pPr>
            <a:r>
              <a:rPr lang="es-CO" sz="1300" b="1" dirty="0">
                <a:solidFill>
                  <a:schemeClr val="dk1"/>
                </a:solidFill>
              </a:rPr>
              <a:t>RF-15:</a:t>
            </a:r>
            <a:r>
              <a:rPr lang="es-CO" sz="1300" dirty="0">
                <a:solidFill>
                  <a:schemeClr val="dk1"/>
                </a:solidFill>
              </a:rPr>
              <a:t> </a:t>
            </a:r>
            <a:r>
              <a:rPr lang="es-MX" sz="1300" dirty="0">
                <a:solidFill>
                  <a:schemeClr val="dk1"/>
                </a:solidFill>
              </a:rPr>
              <a:t>Permitir al administrador aprobar o rechazar solicitudes de personalización</a:t>
            </a:r>
            <a:r>
              <a:rPr lang="es-CO" sz="1300" dirty="0">
                <a:solidFill>
                  <a:schemeClr val="dk1"/>
                </a:solidFill>
              </a:rPr>
              <a:t>.</a:t>
            </a:r>
          </a:p>
          <a:p>
            <a:pPr marL="457200" lvl="0" indent="-342900" algn="l" rtl="0">
              <a:lnSpc>
                <a:spcPct val="115000"/>
              </a:lnSpc>
              <a:spcBef>
                <a:spcPts val="0"/>
              </a:spcBef>
              <a:spcAft>
                <a:spcPts val="0"/>
              </a:spcAft>
              <a:buClr>
                <a:schemeClr val="dk1"/>
              </a:buClr>
              <a:buSzPts val="1800"/>
              <a:buChar char="●"/>
            </a:pPr>
            <a:endParaRPr sz="13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5">
          <a:extLst>
            <a:ext uri="{FF2B5EF4-FFF2-40B4-BE49-F238E27FC236}">
              <a16:creationId xmlns:a16="http://schemas.microsoft.com/office/drawing/2014/main" id="{67D311B5-9B1D-CA7A-CBDC-05BECC8B8FDA}"/>
            </a:ext>
          </a:extLst>
        </p:cNvPr>
        <p:cNvGrpSpPr/>
        <p:nvPr/>
      </p:nvGrpSpPr>
      <p:grpSpPr>
        <a:xfrm>
          <a:off x="0" y="0"/>
          <a:ext cx="0" cy="0"/>
          <a:chOff x="0" y="0"/>
          <a:chExt cx="0" cy="0"/>
        </a:xfrm>
      </p:grpSpPr>
      <p:sp>
        <p:nvSpPr>
          <p:cNvPr id="166" name="Google Shape;166;p14">
            <a:extLst>
              <a:ext uri="{FF2B5EF4-FFF2-40B4-BE49-F238E27FC236}">
                <a16:creationId xmlns:a16="http://schemas.microsoft.com/office/drawing/2014/main" id="{4238C1E0-8761-B944-9ED6-8DACE6921F8A}"/>
              </a:ext>
            </a:extLst>
          </p:cNvPr>
          <p:cNvSpPr txBox="1">
            <a:spLocks noGrp="1"/>
          </p:cNvSpPr>
          <p:nvPr>
            <p:ph type="title"/>
          </p:nvPr>
        </p:nvSpPr>
        <p:spPr>
          <a:xfrm>
            <a:off x="-2628" y="-2737"/>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000"/>
              <a:buFont typeface="Work Sans Medium"/>
              <a:buNone/>
            </a:pPr>
            <a:r>
              <a:rPr lang="es-CO" sz="4000" b="1">
                <a:solidFill>
                  <a:schemeClr val="lt1"/>
                </a:solidFill>
                <a:latin typeface="Work Sans Medium"/>
                <a:ea typeface="Work Sans Medium"/>
                <a:cs typeface="Work Sans Medium"/>
                <a:sym typeface="Work Sans Medium"/>
              </a:rPr>
              <a:t>REQUISITOS  FUNCIONALES.</a:t>
            </a:r>
            <a:endParaRPr sz="4000">
              <a:solidFill>
                <a:schemeClr val="lt1"/>
              </a:solidFill>
              <a:latin typeface="Work Sans Medium"/>
              <a:ea typeface="Work Sans Medium"/>
              <a:cs typeface="Work Sans Medium"/>
              <a:sym typeface="Work Sans Medium"/>
            </a:endParaRPr>
          </a:p>
        </p:txBody>
      </p:sp>
      <p:sp>
        <p:nvSpPr>
          <p:cNvPr id="167" name="Google Shape;167;p14">
            <a:extLst>
              <a:ext uri="{FF2B5EF4-FFF2-40B4-BE49-F238E27FC236}">
                <a16:creationId xmlns:a16="http://schemas.microsoft.com/office/drawing/2014/main" id="{B9335553-97A0-C31C-1F0A-DDA996A55057}"/>
              </a:ext>
            </a:extLst>
          </p:cNvPr>
          <p:cNvSpPr txBox="1"/>
          <p:nvPr/>
        </p:nvSpPr>
        <p:spPr>
          <a:xfrm>
            <a:off x="1566150" y="1637665"/>
            <a:ext cx="9059700" cy="4341148"/>
          </a:xfrm>
          <a:prstGeom prst="rect">
            <a:avLst/>
          </a:prstGeom>
          <a:noFill/>
          <a:ln>
            <a:noFill/>
          </a:ln>
        </p:spPr>
        <p:txBody>
          <a:bodyPr spcFirstLastPara="1" wrap="square" lIns="91425" tIns="45700" rIns="91425" bIns="45700" anchor="t" anchorCtr="0">
            <a:spAutoFit/>
          </a:bodyPr>
          <a:lstStyle/>
          <a:p>
            <a:pPr marL="0" lvl="0" indent="0" algn="l" rtl="0">
              <a:lnSpc>
                <a:spcPct val="115000"/>
              </a:lnSpc>
              <a:spcBef>
                <a:spcPts val="1200"/>
              </a:spcBef>
              <a:spcAft>
                <a:spcPts val="0"/>
              </a:spcAft>
              <a:buNone/>
            </a:pPr>
            <a:r>
              <a:rPr lang="es-CO" sz="1800" b="1" dirty="0">
                <a:solidFill>
                  <a:schemeClr val="dk1"/>
                </a:solidFill>
              </a:rPr>
              <a:t> 5. </a:t>
            </a:r>
            <a:r>
              <a:rPr lang="es-MX" sz="1800" b="1" dirty="0">
                <a:solidFill>
                  <a:schemeClr val="dk1"/>
                </a:solidFill>
              </a:rPr>
              <a:t>Módulo de Pagos y Envíos</a:t>
            </a:r>
            <a:endParaRPr lang="es-CO" sz="1800" b="1" dirty="0">
              <a:solidFill>
                <a:schemeClr val="dk1"/>
              </a:solidFill>
            </a:endParaRPr>
          </a:p>
          <a:p>
            <a:pPr marL="457200" indent="-342900">
              <a:lnSpc>
                <a:spcPct val="115000"/>
              </a:lnSpc>
              <a:spcBef>
                <a:spcPts val="1200"/>
              </a:spcBef>
              <a:buClr>
                <a:schemeClr val="dk1"/>
              </a:buClr>
              <a:buSzPts val="1800"/>
              <a:buFont typeface="Arial"/>
              <a:buChar char="●"/>
            </a:pPr>
            <a:r>
              <a:rPr lang="es-MX" sz="1300" b="1" dirty="0">
                <a:solidFill>
                  <a:schemeClr val="dk1"/>
                </a:solidFill>
              </a:rPr>
              <a:t>RF-16:</a:t>
            </a:r>
            <a:r>
              <a:rPr lang="es-MX" sz="1300" dirty="0">
                <a:solidFill>
                  <a:schemeClr val="dk1"/>
                </a:solidFill>
              </a:rPr>
              <a:t> Registrar pagos asociados a pedidos con método y monto.</a:t>
            </a:r>
          </a:p>
          <a:p>
            <a:pPr marL="457200" indent="-342900">
              <a:lnSpc>
                <a:spcPct val="115000"/>
              </a:lnSpc>
              <a:spcBef>
                <a:spcPts val="1200"/>
              </a:spcBef>
              <a:buClr>
                <a:schemeClr val="dk1"/>
              </a:buClr>
              <a:buSzPts val="1800"/>
              <a:buFont typeface="Arial"/>
              <a:buChar char="●"/>
            </a:pPr>
            <a:r>
              <a:rPr lang="es-CO" sz="1300" b="1" dirty="0">
                <a:solidFill>
                  <a:schemeClr val="dk1"/>
                </a:solidFill>
              </a:rPr>
              <a:t>RF-17:</a:t>
            </a:r>
            <a:r>
              <a:rPr lang="es-CO" sz="1300" dirty="0">
                <a:solidFill>
                  <a:schemeClr val="dk1"/>
                </a:solidFill>
              </a:rPr>
              <a:t> </a:t>
            </a:r>
            <a:r>
              <a:rPr lang="es-MX" sz="1300" dirty="0"/>
              <a:t>Gestionar el estado del pago (pendiente, completado, fallido, reembolsado)</a:t>
            </a:r>
            <a:r>
              <a:rPr lang="es-CO" sz="1300" dirty="0">
                <a:solidFill>
                  <a:schemeClr val="dk1"/>
                </a:solidFill>
              </a:rPr>
              <a:t>.</a:t>
            </a:r>
            <a:br>
              <a:rPr lang="es-CO" sz="1300" dirty="0">
                <a:solidFill>
                  <a:schemeClr val="dk1"/>
                </a:solidFill>
              </a:rPr>
            </a:br>
            <a:endParaRPr sz="1300" dirty="0">
              <a:solidFill>
                <a:schemeClr val="dk1"/>
              </a:solidFill>
            </a:endParaRPr>
          </a:p>
          <a:p>
            <a:pPr marL="457200" lvl="0" indent="-342900" algn="l" rtl="0">
              <a:lnSpc>
                <a:spcPct val="115000"/>
              </a:lnSpc>
              <a:spcBef>
                <a:spcPts val="0"/>
              </a:spcBef>
              <a:spcAft>
                <a:spcPts val="0"/>
              </a:spcAft>
              <a:buClr>
                <a:schemeClr val="dk1"/>
              </a:buClr>
              <a:buSzPts val="1800"/>
              <a:buChar char="●"/>
            </a:pPr>
            <a:r>
              <a:rPr lang="es-CO" sz="1300" b="1" dirty="0">
                <a:solidFill>
                  <a:schemeClr val="dk1"/>
                </a:solidFill>
              </a:rPr>
              <a:t>RF-18:</a:t>
            </a:r>
            <a:r>
              <a:rPr lang="es-CO" sz="1300" dirty="0">
                <a:solidFill>
                  <a:schemeClr val="dk1"/>
                </a:solidFill>
              </a:rPr>
              <a:t> </a:t>
            </a:r>
            <a:r>
              <a:rPr lang="es-MX" sz="1300" dirty="0">
                <a:solidFill>
                  <a:schemeClr val="dk1"/>
                </a:solidFill>
              </a:rPr>
              <a:t>Registrar envíos con dirección, ciudad y estado de entrega</a:t>
            </a:r>
            <a:r>
              <a:rPr lang="es-CO" sz="1300" dirty="0">
                <a:solidFill>
                  <a:schemeClr val="dk1"/>
                </a:solidFill>
              </a:rPr>
              <a:t>.</a:t>
            </a:r>
            <a:br>
              <a:rPr lang="es-CO" sz="1300" dirty="0">
                <a:solidFill>
                  <a:schemeClr val="dk1"/>
                </a:solidFill>
              </a:rPr>
            </a:br>
            <a:endParaRPr sz="1300" dirty="0">
              <a:solidFill>
                <a:schemeClr val="dk1"/>
              </a:solidFill>
            </a:endParaRPr>
          </a:p>
          <a:p>
            <a:pPr marL="457200" lvl="0" indent="-342900" algn="l" rtl="0">
              <a:lnSpc>
                <a:spcPct val="115000"/>
              </a:lnSpc>
              <a:spcBef>
                <a:spcPts val="0"/>
              </a:spcBef>
              <a:spcAft>
                <a:spcPts val="0"/>
              </a:spcAft>
              <a:buClr>
                <a:schemeClr val="dk1"/>
              </a:buClr>
              <a:buSzPts val="1800"/>
              <a:buChar char="●"/>
            </a:pPr>
            <a:r>
              <a:rPr lang="es-CO" sz="1300" b="1" dirty="0">
                <a:solidFill>
                  <a:schemeClr val="dk1"/>
                </a:solidFill>
              </a:rPr>
              <a:t>RF-19:</a:t>
            </a:r>
            <a:r>
              <a:rPr lang="es-CO" sz="1300" dirty="0">
                <a:solidFill>
                  <a:schemeClr val="dk1"/>
                </a:solidFill>
              </a:rPr>
              <a:t> </a:t>
            </a:r>
            <a:r>
              <a:rPr lang="es-MX" sz="1300" dirty="0">
                <a:solidFill>
                  <a:schemeClr val="dk1"/>
                </a:solidFill>
              </a:rPr>
              <a:t>Actualizar el estado del envío (pendiente, en camino, entregado, devuelto)</a:t>
            </a:r>
            <a:r>
              <a:rPr lang="es-CO" sz="1300" dirty="0">
                <a:solidFill>
                  <a:schemeClr val="dk1"/>
                </a:solidFill>
              </a:rPr>
              <a:t>.</a:t>
            </a:r>
          </a:p>
          <a:p>
            <a:pPr marL="457200" lvl="0" indent="-342900" algn="l" rtl="0">
              <a:lnSpc>
                <a:spcPct val="115000"/>
              </a:lnSpc>
              <a:spcBef>
                <a:spcPts val="0"/>
              </a:spcBef>
              <a:spcAft>
                <a:spcPts val="0"/>
              </a:spcAft>
              <a:buClr>
                <a:schemeClr val="dk1"/>
              </a:buClr>
              <a:buSzPts val="1800"/>
              <a:buChar char="●"/>
            </a:pPr>
            <a:endParaRPr lang="es-CO" sz="1300" dirty="0">
              <a:solidFill>
                <a:schemeClr val="dk1"/>
              </a:solidFill>
            </a:endParaRPr>
          </a:p>
          <a:p>
            <a:pPr marL="114300" lvl="0">
              <a:lnSpc>
                <a:spcPct val="115000"/>
              </a:lnSpc>
              <a:buClr>
                <a:schemeClr val="dk1"/>
              </a:buClr>
              <a:buSzPts val="1800"/>
            </a:pPr>
            <a:r>
              <a:rPr lang="es-CO" b="1" dirty="0">
                <a:solidFill>
                  <a:schemeClr val="dk1"/>
                </a:solidFill>
              </a:rPr>
              <a:t>4. Módulo de PQRS</a:t>
            </a:r>
            <a:br>
              <a:rPr lang="es-CO" sz="1300" dirty="0">
                <a:solidFill>
                  <a:schemeClr val="dk1"/>
                </a:solidFill>
              </a:rPr>
            </a:br>
            <a:endParaRPr sz="1300" dirty="0">
              <a:solidFill>
                <a:schemeClr val="dk1"/>
              </a:solidFill>
            </a:endParaRPr>
          </a:p>
          <a:p>
            <a:pPr marL="457200" lvl="0" indent="-342900" algn="l" rtl="0">
              <a:lnSpc>
                <a:spcPct val="115000"/>
              </a:lnSpc>
              <a:spcBef>
                <a:spcPts val="0"/>
              </a:spcBef>
              <a:spcAft>
                <a:spcPts val="0"/>
              </a:spcAft>
              <a:buClr>
                <a:schemeClr val="dk1"/>
              </a:buClr>
              <a:buSzPts val="1800"/>
              <a:buChar char="●"/>
            </a:pPr>
            <a:r>
              <a:rPr lang="es-CO" sz="1300" b="1" dirty="0">
                <a:solidFill>
                  <a:schemeClr val="dk1"/>
                </a:solidFill>
              </a:rPr>
              <a:t>RF-20:</a:t>
            </a:r>
            <a:r>
              <a:rPr lang="es-CO" sz="1300" dirty="0">
                <a:solidFill>
                  <a:schemeClr val="dk1"/>
                </a:solidFill>
              </a:rPr>
              <a:t> </a:t>
            </a:r>
            <a:r>
              <a:rPr lang="es-MX" sz="1300" dirty="0">
                <a:solidFill>
                  <a:schemeClr val="dk1"/>
                </a:solidFill>
              </a:rPr>
              <a:t>Permitir al usuario registrar quejas, reclamos o sugerencias</a:t>
            </a:r>
            <a:r>
              <a:rPr lang="es-CO" sz="1300" dirty="0">
                <a:solidFill>
                  <a:schemeClr val="dk1"/>
                </a:solidFill>
              </a:rPr>
              <a:t>.</a:t>
            </a:r>
            <a:br>
              <a:rPr lang="es-CO" sz="1300" dirty="0">
                <a:solidFill>
                  <a:schemeClr val="dk1"/>
                </a:solidFill>
              </a:rPr>
            </a:br>
            <a:endParaRPr sz="1300" dirty="0">
              <a:solidFill>
                <a:schemeClr val="dk1"/>
              </a:solidFill>
            </a:endParaRPr>
          </a:p>
          <a:p>
            <a:pPr marL="457200" lvl="0" indent="-342900" algn="l" rtl="0">
              <a:lnSpc>
                <a:spcPct val="115000"/>
              </a:lnSpc>
              <a:spcBef>
                <a:spcPts val="0"/>
              </a:spcBef>
              <a:spcAft>
                <a:spcPts val="0"/>
              </a:spcAft>
              <a:buClr>
                <a:schemeClr val="dk1"/>
              </a:buClr>
              <a:buSzPts val="1800"/>
              <a:buChar char="●"/>
            </a:pPr>
            <a:r>
              <a:rPr lang="es-CO" sz="1300" b="1" dirty="0">
                <a:solidFill>
                  <a:schemeClr val="dk1"/>
                </a:solidFill>
              </a:rPr>
              <a:t>RF-21:</a:t>
            </a:r>
            <a:r>
              <a:rPr lang="es-CO" sz="1300" dirty="0">
                <a:solidFill>
                  <a:schemeClr val="dk1"/>
                </a:solidFill>
              </a:rPr>
              <a:t> </a:t>
            </a:r>
            <a:r>
              <a:rPr lang="es-MX" sz="1300" dirty="0">
                <a:solidFill>
                  <a:schemeClr val="dk1"/>
                </a:solidFill>
              </a:rPr>
              <a:t>Permitir al administrador gestionar y responder las PQRS</a:t>
            </a:r>
            <a:r>
              <a:rPr lang="es-CO" sz="1300" dirty="0">
                <a:solidFill>
                  <a:schemeClr val="dk1"/>
                </a:solidFill>
              </a:rPr>
              <a:t>.</a:t>
            </a:r>
          </a:p>
          <a:p>
            <a:pPr marL="457200" lvl="0" indent="-342900" algn="l" rtl="0">
              <a:lnSpc>
                <a:spcPct val="115000"/>
              </a:lnSpc>
              <a:spcBef>
                <a:spcPts val="0"/>
              </a:spcBef>
              <a:spcAft>
                <a:spcPts val="0"/>
              </a:spcAft>
              <a:buClr>
                <a:schemeClr val="dk1"/>
              </a:buClr>
              <a:buSzPts val="1800"/>
              <a:buChar char="●"/>
            </a:pPr>
            <a:endParaRPr lang="es-CO" sz="1300" b="0" i="0" u="none" strike="noStrike" cap="none" dirty="0">
              <a:solidFill>
                <a:schemeClr val="dk1"/>
              </a:solidFill>
              <a:latin typeface="Calibri"/>
              <a:ea typeface="Calibri"/>
              <a:cs typeface="Calibri"/>
              <a:sym typeface="Calibri"/>
            </a:endParaRPr>
          </a:p>
          <a:p>
            <a:pPr marL="457200" indent="-342900">
              <a:lnSpc>
                <a:spcPct val="115000"/>
              </a:lnSpc>
              <a:buClr>
                <a:schemeClr val="dk1"/>
              </a:buClr>
              <a:buSzPts val="1800"/>
              <a:buFont typeface="Arial"/>
              <a:buChar char="●"/>
            </a:pPr>
            <a:r>
              <a:rPr lang="es-CO" sz="1300" b="1" dirty="0">
                <a:solidFill>
                  <a:schemeClr val="dk1"/>
                </a:solidFill>
              </a:rPr>
              <a:t>RF-22:</a:t>
            </a:r>
            <a:r>
              <a:rPr lang="es-CO" sz="1300" dirty="0">
                <a:solidFill>
                  <a:schemeClr val="dk1"/>
                </a:solidFill>
              </a:rPr>
              <a:t> </a:t>
            </a:r>
            <a:r>
              <a:rPr lang="es-MX" sz="1300" dirty="0">
                <a:solidFill>
                  <a:schemeClr val="dk1"/>
                </a:solidFill>
              </a:rPr>
              <a:t>Consultar el historial de PQRS por usuario</a:t>
            </a:r>
            <a:r>
              <a:rPr lang="es-CO" sz="1300" dirty="0">
                <a:solidFill>
                  <a:schemeClr val="dk1"/>
                </a:solidFill>
              </a:rPr>
              <a:t>.</a:t>
            </a:r>
          </a:p>
          <a:p>
            <a:pPr marL="457200" lvl="0" indent="-342900" algn="l" rtl="0">
              <a:lnSpc>
                <a:spcPct val="115000"/>
              </a:lnSpc>
              <a:spcBef>
                <a:spcPts val="0"/>
              </a:spcBef>
              <a:spcAft>
                <a:spcPts val="0"/>
              </a:spcAft>
              <a:buClr>
                <a:schemeClr val="dk1"/>
              </a:buClr>
              <a:buSzPts val="1800"/>
              <a:buChar char="●"/>
            </a:pPr>
            <a:endParaRPr sz="13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912093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15"/>
          <p:cNvSpPr txBox="1">
            <a:spLocks noGrp="1"/>
          </p:cNvSpPr>
          <p:nvPr>
            <p:ph type="title"/>
          </p:nvPr>
        </p:nvSpPr>
        <p:spPr>
          <a:xfrm>
            <a:off x="-2628" y="-2737"/>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000"/>
              <a:buFont typeface="Work Sans Medium"/>
              <a:buNone/>
            </a:pPr>
            <a:r>
              <a:rPr lang="es-CO" sz="4000" b="1">
                <a:solidFill>
                  <a:schemeClr val="lt1"/>
                </a:solidFill>
                <a:latin typeface="Work Sans Medium"/>
                <a:ea typeface="Work Sans Medium"/>
                <a:cs typeface="Work Sans Medium"/>
                <a:sym typeface="Work Sans Medium"/>
              </a:rPr>
              <a:t>REQUISITOS NO FUNCIONALES.</a:t>
            </a:r>
            <a:endParaRPr sz="4000">
              <a:solidFill>
                <a:schemeClr val="lt1"/>
              </a:solidFill>
              <a:latin typeface="Work Sans Medium"/>
              <a:ea typeface="Work Sans Medium"/>
              <a:cs typeface="Work Sans Medium"/>
              <a:sym typeface="Work Sans Medium"/>
            </a:endParaRPr>
          </a:p>
        </p:txBody>
      </p:sp>
      <p:sp>
        <p:nvSpPr>
          <p:cNvPr id="173" name="Google Shape;173;p15"/>
          <p:cNvSpPr txBox="1"/>
          <p:nvPr/>
        </p:nvSpPr>
        <p:spPr>
          <a:xfrm>
            <a:off x="379640" y="1532388"/>
            <a:ext cx="11432700" cy="5062884"/>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chemeClr val="dk1"/>
              </a:buClr>
              <a:buSzPts val="1100"/>
              <a:buFont typeface="Arial"/>
              <a:buNone/>
            </a:pPr>
            <a:r>
              <a:rPr lang="es-MX" sz="1800" b="1" dirty="0">
                <a:solidFill>
                  <a:schemeClr val="dk1"/>
                </a:solidFill>
              </a:rPr>
              <a:t>Rendimiento y eficiencia</a:t>
            </a:r>
          </a:p>
          <a:p>
            <a:pPr marL="0" lvl="0" indent="0" algn="l" rtl="0">
              <a:spcBef>
                <a:spcPts val="0"/>
              </a:spcBef>
              <a:spcAft>
                <a:spcPts val="0"/>
              </a:spcAft>
              <a:buClr>
                <a:schemeClr val="dk1"/>
              </a:buClr>
              <a:buSzPts val="1100"/>
              <a:buFont typeface="Arial"/>
              <a:buNone/>
            </a:pPr>
            <a:endParaRPr lang="es-MX" sz="1800" b="1" dirty="0">
              <a:solidFill>
                <a:schemeClr val="dk1"/>
              </a:solidFill>
            </a:endParaRPr>
          </a:p>
          <a:p>
            <a:pPr marL="0" lvl="0" indent="0" algn="l" rtl="0">
              <a:spcBef>
                <a:spcPts val="0"/>
              </a:spcBef>
              <a:spcAft>
                <a:spcPts val="0"/>
              </a:spcAft>
              <a:buClr>
                <a:schemeClr val="dk1"/>
              </a:buClr>
              <a:buSzPts val="1100"/>
              <a:buFont typeface="Arial"/>
              <a:buNone/>
            </a:pPr>
            <a:r>
              <a:rPr lang="es-MX" sz="1300" b="1" dirty="0">
                <a:solidFill>
                  <a:schemeClr val="dk1"/>
                </a:solidFill>
              </a:rPr>
              <a:t>RNF-01: </a:t>
            </a:r>
            <a:r>
              <a:rPr lang="es-MX" sz="1300" dirty="0">
                <a:solidFill>
                  <a:schemeClr val="dk1"/>
                </a:solidFill>
              </a:rPr>
              <a:t>El sistema debe responder en menos de 2 segundos al consultar productos, pedidos o personalizaciones..</a:t>
            </a:r>
          </a:p>
          <a:p>
            <a:pPr marL="0" lvl="0" indent="0" algn="l" rtl="0">
              <a:spcBef>
                <a:spcPts val="0"/>
              </a:spcBef>
              <a:spcAft>
                <a:spcPts val="0"/>
              </a:spcAft>
              <a:buClr>
                <a:schemeClr val="dk1"/>
              </a:buClr>
              <a:buSzPts val="1100"/>
              <a:buFont typeface="Arial"/>
              <a:buNone/>
            </a:pPr>
            <a:endParaRPr lang="es-MX" sz="1300" dirty="0">
              <a:solidFill>
                <a:schemeClr val="dk1"/>
              </a:solidFill>
            </a:endParaRPr>
          </a:p>
          <a:p>
            <a:pPr marL="0" lvl="0" indent="0" algn="l" rtl="0">
              <a:spcBef>
                <a:spcPts val="0"/>
              </a:spcBef>
              <a:spcAft>
                <a:spcPts val="0"/>
              </a:spcAft>
              <a:buClr>
                <a:schemeClr val="dk1"/>
              </a:buClr>
              <a:buSzPts val="1100"/>
              <a:buFont typeface="Arial"/>
              <a:buNone/>
            </a:pPr>
            <a:r>
              <a:rPr lang="es-MX" sz="1300" b="1" dirty="0">
                <a:solidFill>
                  <a:schemeClr val="dk1"/>
                </a:solidFill>
              </a:rPr>
              <a:t>RNF-02: </a:t>
            </a:r>
            <a:r>
              <a:rPr lang="es-MX" sz="1300" dirty="0">
                <a:solidFill>
                  <a:schemeClr val="dk1"/>
                </a:solidFill>
              </a:rPr>
              <a:t>La generación de reportes en el panel </a:t>
            </a:r>
            <a:r>
              <a:rPr lang="es-MX" sz="1300" dirty="0" err="1">
                <a:solidFill>
                  <a:schemeClr val="dk1"/>
                </a:solidFill>
              </a:rPr>
              <a:t>admin</a:t>
            </a:r>
            <a:r>
              <a:rPr lang="es-MX" sz="1300" dirty="0">
                <a:solidFill>
                  <a:schemeClr val="dk1"/>
                </a:solidFill>
              </a:rPr>
              <a:t> no debe tardar más de 5 segundos con datos acumulados.</a:t>
            </a:r>
          </a:p>
          <a:p>
            <a:pPr marL="0" lvl="0" indent="0" algn="l" rtl="0">
              <a:spcBef>
                <a:spcPts val="0"/>
              </a:spcBef>
              <a:spcAft>
                <a:spcPts val="0"/>
              </a:spcAft>
              <a:buClr>
                <a:schemeClr val="dk1"/>
              </a:buClr>
              <a:buSzPts val="1100"/>
              <a:buFont typeface="Arial"/>
              <a:buNone/>
            </a:pPr>
            <a:endParaRPr lang="es-MX" sz="1300" dirty="0">
              <a:solidFill>
                <a:schemeClr val="dk1"/>
              </a:solidFill>
            </a:endParaRPr>
          </a:p>
          <a:p>
            <a:pPr marL="0" lvl="0" indent="0" algn="l" rtl="0">
              <a:spcBef>
                <a:spcPts val="0"/>
              </a:spcBef>
              <a:spcAft>
                <a:spcPts val="0"/>
              </a:spcAft>
              <a:buClr>
                <a:schemeClr val="dk1"/>
              </a:buClr>
              <a:buSzPts val="1100"/>
              <a:buFont typeface="Arial"/>
              <a:buNone/>
            </a:pPr>
            <a:r>
              <a:rPr lang="es-MX" sz="1300" b="1" dirty="0">
                <a:solidFill>
                  <a:schemeClr val="dk1"/>
                </a:solidFill>
              </a:rPr>
              <a:t> </a:t>
            </a:r>
            <a:r>
              <a:rPr lang="es-MX" sz="1800" b="1" dirty="0">
                <a:solidFill>
                  <a:schemeClr val="dk1"/>
                </a:solidFill>
              </a:rPr>
              <a:t>Seguridad</a:t>
            </a:r>
          </a:p>
          <a:p>
            <a:pPr marL="0" lvl="0" indent="0" algn="l" rtl="0">
              <a:spcBef>
                <a:spcPts val="0"/>
              </a:spcBef>
              <a:spcAft>
                <a:spcPts val="0"/>
              </a:spcAft>
              <a:buClr>
                <a:schemeClr val="dk1"/>
              </a:buClr>
              <a:buSzPts val="1100"/>
              <a:buFont typeface="Arial"/>
              <a:buNone/>
            </a:pPr>
            <a:endParaRPr lang="es-MX" sz="1800" b="1" dirty="0">
              <a:solidFill>
                <a:schemeClr val="dk1"/>
              </a:solidFill>
            </a:endParaRPr>
          </a:p>
          <a:p>
            <a:pPr marL="0" lvl="0" indent="0" algn="l" rtl="0">
              <a:spcBef>
                <a:spcPts val="0"/>
              </a:spcBef>
              <a:spcAft>
                <a:spcPts val="0"/>
              </a:spcAft>
              <a:buClr>
                <a:schemeClr val="dk1"/>
              </a:buClr>
              <a:buSzPts val="1100"/>
              <a:buFont typeface="Arial"/>
              <a:buNone/>
            </a:pPr>
            <a:r>
              <a:rPr lang="es-MX" sz="1300" b="1" dirty="0">
                <a:solidFill>
                  <a:schemeClr val="dk1"/>
                </a:solidFill>
              </a:rPr>
              <a:t>RNF-03: </a:t>
            </a:r>
            <a:r>
              <a:rPr lang="es-MX" sz="1300" dirty="0">
                <a:solidFill>
                  <a:schemeClr val="dk1"/>
                </a:solidFill>
              </a:rPr>
              <a:t>Las contraseñas deben almacenarse cifradas con </a:t>
            </a:r>
            <a:r>
              <a:rPr lang="es-MX" sz="1300" dirty="0" err="1">
                <a:solidFill>
                  <a:schemeClr val="dk1"/>
                </a:solidFill>
              </a:rPr>
              <a:t>bcrypt</a:t>
            </a:r>
            <a:r>
              <a:rPr lang="es-MX" sz="1300" dirty="0">
                <a:solidFill>
                  <a:schemeClr val="dk1"/>
                </a:solidFill>
              </a:rPr>
              <a:t> en la base de datos</a:t>
            </a:r>
          </a:p>
          <a:p>
            <a:pPr marL="0" lvl="0" indent="0" algn="l" rtl="0">
              <a:spcBef>
                <a:spcPts val="0"/>
              </a:spcBef>
              <a:spcAft>
                <a:spcPts val="0"/>
              </a:spcAft>
              <a:buClr>
                <a:schemeClr val="dk1"/>
              </a:buClr>
              <a:buSzPts val="1100"/>
              <a:buFont typeface="Arial"/>
              <a:buNone/>
            </a:pPr>
            <a:endParaRPr lang="es-MX" sz="1300" b="1" dirty="0">
              <a:solidFill>
                <a:schemeClr val="dk1"/>
              </a:solidFill>
            </a:endParaRPr>
          </a:p>
          <a:p>
            <a:pPr marL="0" lvl="0" indent="0" algn="l" rtl="0">
              <a:spcBef>
                <a:spcPts val="0"/>
              </a:spcBef>
              <a:spcAft>
                <a:spcPts val="0"/>
              </a:spcAft>
              <a:buClr>
                <a:schemeClr val="dk1"/>
              </a:buClr>
              <a:buSzPts val="1100"/>
              <a:buFont typeface="Arial"/>
              <a:buNone/>
            </a:pPr>
            <a:r>
              <a:rPr lang="es-MX" sz="1300" b="1" dirty="0">
                <a:solidFill>
                  <a:schemeClr val="dk1"/>
                </a:solidFill>
              </a:rPr>
              <a:t>RNF-04:  </a:t>
            </a:r>
            <a:r>
              <a:rPr lang="es-MX" sz="1300" dirty="0">
                <a:solidFill>
                  <a:schemeClr val="dk1"/>
                </a:solidFill>
              </a:rPr>
              <a:t>El acceso al sistema debe estar protegido mediante tokens JWT con expiración automática.</a:t>
            </a:r>
          </a:p>
          <a:p>
            <a:pPr marL="0" lvl="0" indent="0" algn="l" rtl="0">
              <a:spcBef>
                <a:spcPts val="0"/>
              </a:spcBef>
              <a:spcAft>
                <a:spcPts val="0"/>
              </a:spcAft>
              <a:buClr>
                <a:schemeClr val="dk1"/>
              </a:buClr>
              <a:buSzPts val="1100"/>
              <a:buFont typeface="Arial"/>
              <a:buNone/>
            </a:pPr>
            <a:endParaRPr lang="es-MX" sz="1300" b="1" dirty="0">
              <a:solidFill>
                <a:schemeClr val="dk1"/>
              </a:solidFill>
            </a:endParaRPr>
          </a:p>
          <a:p>
            <a:pPr marL="0" lvl="0" indent="0" algn="l" rtl="0">
              <a:spcBef>
                <a:spcPts val="0"/>
              </a:spcBef>
              <a:spcAft>
                <a:spcPts val="0"/>
              </a:spcAft>
              <a:buClr>
                <a:schemeClr val="dk1"/>
              </a:buClr>
              <a:buSzPts val="1100"/>
              <a:buFont typeface="Arial"/>
              <a:buNone/>
            </a:pPr>
            <a:r>
              <a:rPr lang="es-MX" sz="1300" b="1" dirty="0">
                <a:solidFill>
                  <a:schemeClr val="dk1"/>
                </a:solidFill>
              </a:rPr>
              <a:t>RNF-05: </a:t>
            </a:r>
            <a:r>
              <a:rPr lang="es-MX" sz="1300" dirty="0">
                <a:solidFill>
                  <a:schemeClr val="dk1"/>
                </a:solidFill>
              </a:rPr>
              <a:t>Solo los usuarios con rol administrador pueden acceder al panel de gestión.</a:t>
            </a:r>
          </a:p>
          <a:p>
            <a:pPr marL="0" lvl="0" indent="0" algn="l" rtl="0">
              <a:spcBef>
                <a:spcPts val="0"/>
              </a:spcBef>
              <a:spcAft>
                <a:spcPts val="0"/>
              </a:spcAft>
              <a:buClr>
                <a:schemeClr val="dk1"/>
              </a:buClr>
              <a:buSzPts val="1100"/>
              <a:buFont typeface="Arial"/>
              <a:buNone/>
            </a:pPr>
            <a:endParaRPr lang="es-MX" sz="1300" b="1" dirty="0">
              <a:solidFill>
                <a:schemeClr val="dk1"/>
              </a:solidFill>
            </a:endParaRPr>
          </a:p>
          <a:p>
            <a:pPr lvl="0">
              <a:buClr>
                <a:schemeClr val="dk1"/>
              </a:buClr>
              <a:buSzPts val="1100"/>
            </a:pPr>
            <a:r>
              <a:rPr lang="es-MX" sz="1800" b="1" dirty="0">
                <a:solidFill>
                  <a:schemeClr val="dk1"/>
                </a:solidFill>
              </a:rPr>
              <a:t>Usabilidad</a:t>
            </a:r>
          </a:p>
          <a:p>
            <a:pPr lvl="0">
              <a:buClr>
                <a:schemeClr val="dk1"/>
              </a:buClr>
              <a:buSzPts val="1100"/>
            </a:pPr>
            <a:endParaRPr lang="es-MX" sz="1800" b="1" dirty="0">
              <a:solidFill>
                <a:schemeClr val="dk1"/>
              </a:solidFill>
            </a:endParaRPr>
          </a:p>
          <a:p>
            <a:pPr lvl="0">
              <a:buClr>
                <a:schemeClr val="dk1"/>
              </a:buClr>
              <a:buSzPts val="1100"/>
            </a:pPr>
            <a:r>
              <a:rPr lang="es-MX" sz="1300" b="1" dirty="0">
                <a:solidFill>
                  <a:schemeClr val="dk1"/>
                </a:solidFill>
              </a:rPr>
              <a:t>RNF-06: </a:t>
            </a:r>
            <a:r>
              <a:rPr lang="es-MX" sz="1300" dirty="0">
                <a:solidFill>
                  <a:schemeClr val="dk1"/>
                </a:solidFill>
              </a:rPr>
              <a:t>La interfaz debe ser intuitiva y adaptable a dispositivos móviles y escritorio.</a:t>
            </a:r>
          </a:p>
          <a:p>
            <a:pPr lvl="0">
              <a:buClr>
                <a:schemeClr val="dk1"/>
              </a:buClr>
              <a:buSzPts val="1100"/>
            </a:pPr>
            <a:endParaRPr lang="es-MX" sz="1300" dirty="0">
              <a:solidFill>
                <a:schemeClr val="dk1"/>
              </a:solidFill>
            </a:endParaRPr>
          </a:p>
          <a:p>
            <a:pPr lvl="0">
              <a:buClr>
                <a:schemeClr val="dk1"/>
              </a:buClr>
              <a:buSzPts val="1100"/>
            </a:pPr>
            <a:r>
              <a:rPr lang="es-MX" sz="1300" b="1" dirty="0">
                <a:solidFill>
                  <a:schemeClr val="dk1"/>
                </a:solidFill>
              </a:rPr>
              <a:t>RNF-07:  </a:t>
            </a:r>
            <a:r>
              <a:rPr lang="es-MX" sz="1300" dirty="0">
                <a:solidFill>
                  <a:schemeClr val="dk1"/>
                </a:solidFill>
              </a:rPr>
              <a:t>El sistema debe mostrar mensajes claros de error o éxito en cada operación</a:t>
            </a:r>
            <a:r>
              <a:rPr lang="es-MX" sz="1300" b="1" dirty="0">
                <a:solidFill>
                  <a:schemeClr val="dk1"/>
                </a:solidFill>
              </a:rPr>
              <a:t>.</a:t>
            </a:r>
          </a:p>
          <a:p>
            <a:pPr lvl="0">
              <a:buClr>
                <a:schemeClr val="dk1"/>
              </a:buClr>
              <a:buSzPts val="1100"/>
            </a:pPr>
            <a:endParaRPr lang="es-MX" sz="1300" b="1" dirty="0">
              <a:solidFill>
                <a:schemeClr val="dk1"/>
              </a:solidFill>
            </a:endParaRPr>
          </a:p>
          <a:p>
            <a:pPr marL="0" lvl="0" indent="0" algn="l" rtl="0">
              <a:spcBef>
                <a:spcPts val="0"/>
              </a:spcBef>
              <a:spcAft>
                <a:spcPts val="0"/>
              </a:spcAft>
              <a:buClr>
                <a:schemeClr val="dk1"/>
              </a:buClr>
              <a:buSzPts val="1100"/>
              <a:buFont typeface="Arial"/>
              <a:buNone/>
            </a:pPr>
            <a:endParaRPr lang="es-MX" sz="1300" b="1" dirty="0">
              <a:solidFill>
                <a:schemeClr val="dk1"/>
              </a:solidFill>
            </a:endParaRPr>
          </a:p>
          <a:p>
            <a:pPr marL="0" marR="0" lvl="0" indent="0" algn="l" rtl="0">
              <a:lnSpc>
                <a:spcPct val="100000"/>
              </a:lnSpc>
              <a:spcBef>
                <a:spcPts val="0"/>
              </a:spcBef>
              <a:spcAft>
                <a:spcPts val="0"/>
              </a:spcAft>
              <a:buClr>
                <a:srgbClr val="000000"/>
              </a:buClr>
              <a:buSzPts val="1800"/>
              <a:buFont typeface="Arial"/>
              <a:buNone/>
            </a:pPr>
            <a:endParaRPr sz="2000" b="1" dirty="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pic>
        <p:nvPicPr>
          <p:cNvPr id="178" name="Google Shape;178;p16" descr="Imagen que contiene Interfaz de usuario gráfica&#10;&#10;Descripción generada automáticamente"/>
          <p:cNvPicPr preferRelativeResize="0"/>
          <p:nvPr/>
        </p:nvPicPr>
        <p:blipFill rotWithShape="1">
          <a:blip r:embed="rId3">
            <a:alphaModFix/>
          </a:blip>
          <a:srcRect/>
          <a:stretch/>
        </p:blipFill>
        <p:spPr>
          <a:xfrm>
            <a:off x="0" y="0"/>
            <a:ext cx="12192000" cy="6858000"/>
          </a:xfrm>
          <a:prstGeom prst="rect">
            <a:avLst/>
          </a:prstGeom>
          <a:noFill/>
          <a:ln>
            <a:noFill/>
          </a:ln>
        </p:spPr>
      </p:pic>
    </p:spTree>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1076</Words>
  <Application>Microsoft Office PowerPoint</Application>
  <PresentationFormat>Panorámica</PresentationFormat>
  <Paragraphs>89</Paragraphs>
  <Slides>14</Slides>
  <Notes>14</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14</vt:i4>
      </vt:variant>
    </vt:vector>
  </HeadingPairs>
  <TitlesOfParts>
    <vt:vector size="21" baseType="lpstr">
      <vt:lpstr>Work Sans</vt:lpstr>
      <vt:lpstr>Century Schoolbook</vt:lpstr>
      <vt:lpstr>Calibri</vt:lpstr>
      <vt:lpstr>Arial</vt:lpstr>
      <vt:lpstr>Work Sans Medium</vt:lpstr>
      <vt:lpstr>Work Sans Light</vt:lpstr>
      <vt:lpstr>Tema de Office</vt:lpstr>
      <vt:lpstr>Presentación de PowerPoint</vt:lpstr>
      <vt:lpstr>Presentación de PowerPoint</vt:lpstr>
      <vt:lpstr> OBJETIVOS ESPECÍFICOS. </vt:lpstr>
      <vt:lpstr>Presentación de PowerPoint</vt:lpstr>
      <vt:lpstr>Presentación de PowerPoint</vt:lpstr>
      <vt:lpstr> JUSTIFICACIÓN. </vt:lpstr>
      <vt:lpstr> JUSTIFICACIÓN. </vt:lpstr>
      <vt:lpstr> Alcance y delimitación del proyecto. </vt:lpstr>
      <vt:lpstr> Alcance y delimitación del proyecto </vt:lpstr>
      <vt:lpstr>Presentación de PowerPoint</vt:lpstr>
      <vt:lpstr>REQUISITOS  FUNCIONALES.</vt:lpstr>
      <vt:lpstr>REQUISITOS  FUNCIONALES.</vt:lpstr>
      <vt:lpstr>REQUISITOS NO FUNCIONALES.</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Jorge Enrique Pedraza Sanchez</dc:creator>
  <cp:lastModifiedBy>John Fernando Yara Tique</cp:lastModifiedBy>
  <cp:revision>1</cp:revision>
  <dcterms:created xsi:type="dcterms:W3CDTF">2020-10-01T23:51:28Z</dcterms:created>
  <dcterms:modified xsi:type="dcterms:W3CDTF">2026-03-18T22:07:34Z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299739c-ad3d-4908-806e-4d91151a6e13_Enabled">
    <vt:lpwstr>true</vt:lpwstr>
  </property>
  <property fmtid="{D5CDD505-2E9C-101B-9397-08002B2CF9AE}" pid="3" name="MSIP_Label_1299739c-ad3d-4908-806e-4d91151a6e13_Method">
    <vt:lpwstr>Standard</vt:lpwstr>
  </property>
  <property fmtid="{D5CDD505-2E9C-101B-9397-08002B2CF9AE}" pid="4" name="MSIP_Label_1299739c-ad3d-4908-806e-4d91151a6e13_Name">
    <vt:lpwstr>All Employees (Unrestricted)</vt:lpwstr>
  </property>
  <property fmtid="{D5CDD505-2E9C-101B-9397-08002B2CF9AE}" pid="5" name="MSIP_Label_1299739c-ad3d-4908-806e-4d91151a6e13_SiteId">
    <vt:lpwstr>cbc2c381-2f2e-4d93-91d1-506c9316ace7</vt:lpwstr>
  </property>
  <property fmtid="{D5CDD505-2E9C-101B-9397-08002B2CF9AE}" pid="6" name="MSIP_Label_1299739c-ad3d-4908-806e-4d91151a6e13_ContentBits">
    <vt:lpwstr>0</vt:lpwstr>
  </property>
  <property fmtid="{D5CDD505-2E9C-101B-9397-08002B2CF9AE}" pid="7" name="MSIP_Label_1299739c-ad3d-4908-806e-4d91151a6e13_SetDate">
    <vt:lpwstr>2022-08-12T19:17:55Z</vt:lpwstr>
  </property>
  <property fmtid="{D5CDD505-2E9C-101B-9397-08002B2CF9AE}" pid="8" name="MSIP_Label_1299739c-ad3d-4908-806e-4d91151a6e13_ActionId">
    <vt:lpwstr>8c6bc714-34a9-4b82-914e-50b1377a2da4</vt:lpwstr>
  </property>
</Properties>
</file>